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title.A (live): Opening slide. Dark background, deck title and one-line positioning.
Rules: DSN-51, DSN-52, NAR-14
Logo appears on title and closing only (DSN-52).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section_divider.A (live): Dark divider. Section number, title, and the question the section answers.
Rules: NAR-15, NAR-20, BRD-12
A question is allowed here because this is a divider, not a content headline (BRD-12, CLM-10).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exec_summary.A (live): Thesis headline with three key points in columns.
Rules: NAR-38, NAR-02, NAR-08, CLM-02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exec_summary.B (live): Thesis headline, one key figure in a panel, supporting points as a list.
Rules: NAR-38, NAR-02, DSN-05, DAT-06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claim_big_number.A (live): Number left, up to two supporting points right.
Rules: DAT-06, EVD-12, CLM-02, SPW-03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claim_big_number.AS (live): Number left, up to two supporting points right. One-line headline with an evidence subhead.
Rules: DAT-06, EVD-12, CLM-02, SPW-03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claim_big_number.B (live): Number centered, label beneath, support line across the bottom.
Rules: DAT-06, EVD-12, DSN-03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claim_big_number.BS (live): Number centered, label beneath, support line across the bottom. One-line headline with an evidence subhead.
Rules: DAT-06, EVD-12, DSN-03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claim_big_number.C (live): Supporting points left, number in a tinted panel right.
Rules: DAT-06, EVD-12, CLM-02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claim_big_number.CS (live): Supporting points left, number in a tinted panel right. One-line headline with an evidence subhead.
Rules: DAT-06, EVD-12, CLM-02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claim_chart.A (live): Chart left, takeaway points in a narrow column right.
Rules: DAT-16, CLM-12, SPW-03, EVD-41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claim_chart.AS (live): Chart left, takeaway points in a narrow column right. One-line headline with an evidence subhead.
Rules: DAT-16, CLM-12, SPW-03, EVD-41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claim_chart.B (live): Takeaway line under the headline, full-width chart.
Rules: DAT-16, CLM-12, SPW-03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claim_chart.BS (live): Takeaway line under the headline, full-width chart. One-line headline with an evidence subhead.
Rules: DAT-16, CLM-12, SPW-03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claim_comparison.A (live): Two columns, current state left and proposed state right.
Rules: NAR-58, EVD-64, BRD-12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claim_comparison.AS (live): Two columns, current state left and proposed state right. One-line headline with an evidence subhead.
Rules: NAR-58, EVD-64, BRD-12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claim_comparison.B (live): Two stacked rows, the proposed state on a tinted band.
Rules: NAR-58, EVD-64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claim_comparison.BS (live): Two stacked rows, the proposed state on a tinted band. One-line headline with an evidence subhead.
Rules: NAR-58, EVD-64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claim_diagram.A (live): Full-width process diagram with a caption beneath.
Rules: EVD-41, EVD-54, DSN-39, DSN-42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claim_diagram.AS (live): Full-width process diagram with a caption beneath. One-line headline with an evidence subhead.
Rules: EVD-41, EVD-54, DSN-39, DSN-42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claim_diagram.B (live): Diagram left, up to two supporting points right.
Rules: EVD-41, EVD-54, CLM-02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claim_diagram.BS (live): Diagram left, up to two supporting points right. One-line headline with an evidence subhead.
Rules: EVD-41, EVD-54, CLM-02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claim_trend.A (live): Line chart left, takeaway points right. For a measure across ordered time periods.
Rules: DAT-07, DAT-45, CLM-12, SPW-03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claim_trend.AS (live): Line chart left, takeaway points right. For a measure across ordered time periods. One-line headline with an evidence subhead.
Rules: DAT-07, DAT-45, CLM-12, SPW-03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claim_trend.B (live): Takeaway line under the headline, full-width line chart.
Rules: DAT-07, DAT-45, CLM-12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claim_trend.BS (live): Takeaway line under the headline, full-width line chart. One-line headline with an evidence subhead.
Rules: DAT-07, DAT-45, CLM-12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claim_scatter.A (live): Scatterplot left, takeaway points right. For how two variables move together.
Rules: DAT-32, DAT-38, CLM-12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claim_scatter.AS (live): Scatterplot left, takeaway points right. For how two variables move together. One-line headline with an evidence subhead.
Rules: DAT-32, DAT-38, CLM-12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claim_text.A (live): Headline with up to three short reasons in columns. For claims supported by reasons rather than data.
Rules: EVD-54, CLM-35, DSN-05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claim_text.AS (live): Headline with up to three short reasons in columns. For claims supported by reasons rather than data. One-line headline with an evidence subhead.
Rules: EVD-54, CLM-35, DSN-05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claim_text.B (live): Headline with supporting points as a short list.
Rules: EVD-54, CLM-35, DSN-05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claim_text.BS (live): Headline with supporting points as a short list. One-line headline with an evidence subhead.
Rules: EVD-54, CLM-35, DSN-05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claim_table.A (live): A compact table of up to four rows, with a takeaway line beneath.
Rules: DAT-03, DAT-05, DAT-04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claim_table.AS (live): A compact table of up to four rows, with a takeaway line beneath. One-line headline with an evidence subhead.
Rules: DAT-03, DAT-05, DAT-04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claim_mixed.A (live): Figure in a tinted panel left, a quote or observation right, given comparable weight.
Rules: EVD-07, EVD-57, EVD-60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claim_mixed.AS (live): Figure in a tinted panel left, a quote or observation right, given comparable weight. One-line headline with an evidence subhead.
Rules: EVD-07, EVD-57, EVD-60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claim_mechanism.A (live): Mechanism diagram with branches and feedback, caption beneath.
Rules: EVD-42, DSN-39, DSN-08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claim_mechanism.AS (live): Mechanism diagram with branches and feedback, caption beneath. One-line headline with an evidence subhead.
Rules: EVD-42, DSN-39, DSN-08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positioning.A (live): Category headline over the verbatim positioning statement.
Rules: BRD-16, SPW-14
Exempt from the live word cap by BRD-16.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alternatives_risks.A (live): Objections or risks with direct responses, as a two-column table.
Rules: NAR-19, NAR-59, AUD-09
Three to five rows. Every risk row needs a response (NAR-59).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portfolio_funnel.A (live): Three to five stages left to right, with a caption.
Rules: NAR-08, DSN-05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portfolio_funnel.AS (live): Three to five stages left to right, with a caption. One-line headline with an evidence subhead.
Rules: NAR-08, DSN-05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closing.A (live): Dark closing slide. Thesis restated, the specific ask, contact.
Rules: CLM-16, NAR-18, DSN-52, BRD-31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appendix.A (live): Appendix page: descriptive title, supporting table or detail, source.
Rules: EVD-62, NAR-28, NAR-29, DAT-04
An entry fills either the table region or the detail text, never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read_exec_summary.A (read): Pre-read summary page: key figure panel left, summary prose right.
Rules: NAR-38, SPW-05, SPW-19, DSN-27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read_claim.A (read): Slidedoc page: evidence left, explanatory prose right.
Rules: SPW-04, SPW-19, EVD-36, EVD-57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read_claim.AS (read): Slidedoc page: evidence left, explanatory prose right. One-line headline with an evidence subhead.
Rules: SPW-04, SPW-19, EVD-36, EVD-57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read_claim.B (read): Slidedoc page: evidence across the top, prose in two columns below.
Rules: SPW-04, SPW-19, EVD-57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read_claim.BS (read): Slidedoc page: evidence across the top, prose in two columns below. One-line headline with an evidence subhead.
Rules: SPW-04, SPW-19, EVD-57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read_text.A (read): Slidedoc text page for objections, risks, or narrative sections.
Rules: SPW-19, SPW-29, NAR-19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.A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00253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label</a:t>
            </a:r>
            <a:endParaRPr lang="en-US" sz="14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685800" y="2331720"/>
            <a:ext cx="8961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or deck title</a:t>
            </a:r>
            <a:endParaRPr lang="en-US" sz="4400" dirty="0"/>
          </a:p>
        </p:txBody>
      </p:sp>
      <p:sp>
        <p:nvSpPr>
          <p:cNvPr id="5" name="subtitle"/>
          <p:cNvSpPr/>
          <p:nvPr>
            <p:ph idx="103" type="body" hasCustomPrompt="1"/>
          </p:nvPr>
        </p:nvSpPr>
        <p:spPr>
          <a:xfrm>
            <a:off x="685800" y="3931920"/>
            <a:ext cx="89611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positioning</a:t>
            </a:r>
            <a:endParaRPr lang="en-US" sz="2000" dirty="0"/>
          </a:p>
        </p:txBody>
      </p:sp>
      <p:sp>
        <p:nvSpPr>
          <p:cNvPr id="6" name="meta"/>
          <p:cNvSpPr/>
          <p:nvPr>
            <p:ph idx="104" type="body" hasCustomPrompt="1"/>
          </p:nvPr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and date</a:t>
            </a:r>
            <a:endParaRPr lang="en-US" sz="1400" dirty="0"/>
          </a:p>
        </p:txBody>
      </p:sp>
      <p:sp>
        <p:nvSpPr>
          <p:cNvPr id="7" name="logo"/>
          <p:cNvSpPr/>
          <p:nvPr>
            <p:ph idx="105" type="body" hasCustomPrompt="1"/>
          </p:nvPr>
        </p:nvSpPr>
        <p:spPr>
          <a:xfrm>
            <a:off x="9966960" y="5715000"/>
            <a:ext cx="153619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.A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0" type="body" hasCustomPrompt="1"/>
          </p:nvPr>
        </p:nvSpPr>
        <p:spPr>
          <a:xfrm>
            <a:off x="685800" y="1417320"/>
            <a:ext cx="27432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7200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685800" y="274320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4" name="question"/>
          <p:cNvSpPr/>
          <p:nvPr>
            <p:ph idx="102" type="body" hasCustomPrompt="1"/>
          </p:nvPr>
        </p:nvSpPr>
        <p:spPr>
          <a:xfrm>
            <a:off x="685800" y="397764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this section answers</a:t>
            </a:r>
            <a:endParaRPr lang="en-US" sz="2000" dirty="0"/>
          </a:p>
        </p:txBody>
      </p:sp>
      <p:sp>
        <p:nvSpPr>
          <p:cNvPr id="5" name="summary"/>
          <p:cNvSpPr/>
          <p:nvPr>
            <p:ph idx="103" type="body" hasCustomPrompt="1"/>
          </p:nvPr>
        </p:nvSpPr>
        <p:spPr>
          <a:xfrm>
            <a:off x="685800" y="512064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section conclusion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_summary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697480"/>
            <a:ext cx="3332074" cy="18288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4" name="Shape 2"/>
          <p:cNvSpPr/>
          <p:nvPr/>
        </p:nvSpPr>
        <p:spPr>
          <a:xfrm>
            <a:off x="4429354" y="2697480"/>
            <a:ext cx="3332074" cy="18288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5" name="Shape 3"/>
          <p:cNvSpPr/>
          <p:nvPr/>
        </p:nvSpPr>
        <p:spPr>
          <a:xfrm>
            <a:off x="8173822" y="2697480"/>
            <a:ext cx="3332074" cy="18288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6" name="eyebrow"/>
          <p:cNvSpPr/>
          <p:nvPr>
            <p:ph idx="104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7" name="headline"/>
          <p:cNvSpPr/>
          <p:nvPr>
            <p:ph idx="105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8" name="point1_index"/>
          <p:cNvSpPr/>
          <p:nvPr>
            <p:ph idx="106" type="body" hasCustomPrompt="1"/>
          </p:nvPr>
        </p:nvSpPr>
        <p:spPr>
          <a:xfrm>
            <a:off x="685800" y="2788920"/>
            <a:ext cx="3332074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point1"/>
          <p:cNvSpPr/>
          <p:nvPr>
            <p:ph idx="107" type="body" hasCustomPrompt="1"/>
          </p:nvPr>
        </p:nvSpPr>
        <p:spPr>
          <a:xfrm>
            <a:off x="685800" y="3291840"/>
            <a:ext cx="3332074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</a:t>
            </a:r>
            <a:endParaRPr lang="en-US" sz="2600" dirty="0"/>
          </a:p>
        </p:txBody>
      </p:sp>
      <p:sp>
        <p:nvSpPr>
          <p:cNvPr id="10" name="point2_index"/>
          <p:cNvSpPr/>
          <p:nvPr>
            <p:ph idx="108" type="body" hasCustomPrompt="1"/>
          </p:nvPr>
        </p:nvSpPr>
        <p:spPr>
          <a:xfrm>
            <a:off x="4429354" y="2788920"/>
            <a:ext cx="3332074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point2"/>
          <p:cNvSpPr/>
          <p:nvPr>
            <p:ph idx="109" type="body" hasCustomPrompt="1"/>
          </p:nvPr>
        </p:nvSpPr>
        <p:spPr>
          <a:xfrm>
            <a:off x="4429354" y="3291840"/>
            <a:ext cx="3332074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</a:t>
            </a:r>
            <a:endParaRPr lang="en-US" sz="2600" dirty="0"/>
          </a:p>
        </p:txBody>
      </p:sp>
      <p:sp>
        <p:nvSpPr>
          <p:cNvPr id="12" name="point3_index"/>
          <p:cNvSpPr/>
          <p:nvPr>
            <p:ph idx="110" type="body" hasCustomPrompt="1"/>
          </p:nvPr>
        </p:nvSpPr>
        <p:spPr>
          <a:xfrm>
            <a:off x="8173822" y="2788920"/>
            <a:ext cx="3332074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point3"/>
          <p:cNvSpPr/>
          <p:nvPr>
            <p:ph idx="111" type="body" hasCustomPrompt="1"/>
          </p:nvPr>
        </p:nvSpPr>
        <p:spPr>
          <a:xfrm>
            <a:off x="8173822" y="3291840"/>
            <a:ext cx="3332074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_summary.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0"/>
            <a:ext cx="3931920" cy="406908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5" name="headline"/>
          <p:cNvSpPr/>
          <p:nvPr>
            <p:ph idx="103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6" name="figure"/>
          <p:cNvSpPr/>
          <p:nvPr>
            <p:ph idx="104" type="body" hasCustomPrompt="1"/>
          </p:nvPr>
        </p:nvSpPr>
        <p:spPr>
          <a:xfrm>
            <a:off x="1005840" y="2514600"/>
            <a:ext cx="3291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figure</a:t>
            </a:r>
            <a:endParaRPr lang="en-US" sz="6000" dirty="0"/>
          </a:p>
        </p:txBody>
      </p:sp>
      <p:sp>
        <p:nvSpPr>
          <p:cNvPr id="7" name="figure_label"/>
          <p:cNvSpPr/>
          <p:nvPr>
            <p:ph idx="105" type="body" hasCustomPrompt="1"/>
          </p:nvPr>
        </p:nvSpPr>
        <p:spPr>
          <a:xfrm>
            <a:off x="1005840" y="3931920"/>
            <a:ext cx="3291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1600" dirty="0"/>
          </a:p>
        </p:txBody>
      </p:sp>
      <p:sp>
        <p:nvSpPr>
          <p:cNvPr id="8" name="points"/>
          <p:cNvSpPr/>
          <p:nvPr>
            <p:ph idx="106" type="body" hasCustomPrompt="1"/>
          </p:nvPr>
        </p:nvSpPr>
        <p:spPr>
          <a:xfrm>
            <a:off x="5074920" y="2194560"/>
            <a:ext cx="6430975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 five supporting points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big_number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0" y="2331720"/>
            <a:ext cx="0" cy="329184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5" name="headline"/>
          <p:cNvSpPr/>
          <p:nvPr>
            <p:ph idx="103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6" name="number"/>
          <p:cNvSpPr/>
          <p:nvPr>
            <p:ph idx="104" type="body" hasCustomPrompt="1"/>
          </p:nvPr>
        </p:nvSpPr>
        <p:spPr>
          <a:xfrm>
            <a:off x="685800" y="2148840"/>
            <a:ext cx="5212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</a:t>
            </a:r>
            <a:endParaRPr lang="en-US" sz="9600" dirty="0"/>
          </a:p>
        </p:txBody>
      </p:sp>
      <p:sp>
        <p:nvSpPr>
          <p:cNvPr id="7" name="number_label"/>
          <p:cNvSpPr/>
          <p:nvPr>
            <p:ph idx="105" type="body" hasCustomPrompt="1"/>
          </p:nvPr>
        </p:nvSpPr>
        <p:spPr>
          <a:xfrm>
            <a:off x="685800" y="3931920"/>
            <a:ext cx="5212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2000" dirty="0"/>
          </a:p>
        </p:txBody>
      </p:sp>
      <p:sp>
        <p:nvSpPr>
          <p:cNvPr id="8" name="support"/>
          <p:cNvSpPr/>
          <p:nvPr>
            <p:ph idx="106" type="body" hasCustomPrompt="1"/>
          </p:nvPr>
        </p:nvSpPr>
        <p:spPr>
          <a:xfrm>
            <a:off x="6446520" y="2377440"/>
            <a:ext cx="5059375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two supporting points</a:t>
            </a:r>
            <a:endParaRPr lang="en-US" sz="20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big_number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0" y="2331720"/>
            <a:ext cx="0" cy="329184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5" name="headline"/>
          <p:cNvSpPr/>
          <p:nvPr>
            <p:ph idx="103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6" name="subhead"/>
          <p:cNvSpPr/>
          <p:nvPr>
            <p:ph idx="104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7" name="number"/>
          <p:cNvSpPr/>
          <p:nvPr>
            <p:ph idx="105" type="body" hasCustomPrompt="1"/>
          </p:nvPr>
        </p:nvSpPr>
        <p:spPr>
          <a:xfrm>
            <a:off x="685800" y="2148840"/>
            <a:ext cx="5212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</a:t>
            </a:r>
            <a:endParaRPr lang="en-US" sz="9600" dirty="0"/>
          </a:p>
        </p:txBody>
      </p:sp>
      <p:sp>
        <p:nvSpPr>
          <p:cNvPr id="8" name="number_label"/>
          <p:cNvSpPr/>
          <p:nvPr>
            <p:ph idx="106" type="body" hasCustomPrompt="1"/>
          </p:nvPr>
        </p:nvSpPr>
        <p:spPr>
          <a:xfrm>
            <a:off x="685800" y="3931920"/>
            <a:ext cx="5212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2000" dirty="0"/>
          </a:p>
        </p:txBody>
      </p:sp>
      <p:sp>
        <p:nvSpPr>
          <p:cNvPr id="9" name="support"/>
          <p:cNvSpPr/>
          <p:nvPr>
            <p:ph idx="107" type="body" hasCustomPrompt="1"/>
          </p:nvPr>
        </p:nvSpPr>
        <p:spPr>
          <a:xfrm>
            <a:off x="6446520" y="2377440"/>
            <a:ext cx="5059375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two supporting points</a:t>
            </a:r>
            <a:endParaRPr lang="en-US" sz="2000" dirty="0"/>
          </a:p>
        </p:txBody>
      </p:sp>
      <p:sp>
        <p:nvSpPr>
          <p:cNvPr id="10" name="source"/>
          <p:cNvSpPr/>
          <p:nvPr>
            <p:ph idx="108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big_number.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number"/>
          <p:cNvSpPr/>
          <p:nvPr>
            <p:ph idx="103" type="body" hasCustomPrompt="1"/>
          </p:nvPr>
        </p:nvSpPr>
        <p:spPr>
          <a:xfrm>
            <a:off x="685800" y="2057400"/>
            <a:ext cx="10820095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</a:t>
            </a:r>
            <a:endParaRPr lang="en-US" sz="11000" dirty="0"/>
          </a:p>
        </p:txBody>
      </p:sp>
      <p:sp>
        <p:nvSpPr>
          <p:cNvPr id="6" name="number_label"/>
          <p:cNvSpPr/>
          <p:nvPr>
            <p:ph idx="104" type="body" hasCustomPrompt="1"/>
          </p:nvPr>
        </p:nvSpPr>
        <p:spPr>
          <a:xfrm>
            <a:off x="685800" y="4160520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2000" dirty="0"/>
          </a:p>
        </p:txBody>
      </p:sp>
      <p:sp>
        <p:nvSpPr>
          <p:cNvPr id="7" name="support"/>
          <p:cNvSpPr/>
          <p:nvPr>
            <p:ph idx="105" type="body" hasCustomPrompt="1"/>
          </p:nvPr>
        </p:nvSpPr>
        <p:spPr>
          <a:xfrm>
            <a:off x="1981505" y="4937760"/>
            <a:ext cx="8229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supporting points</a:t>
            </a:r>
            <a:endParaRPr lang="en-US" sz="18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big_number.B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number"/>
          <p:cNvSpPr/>
          <p:nvPr>
            <p:ph idx="104" type="body" hasCustomPrompt="1"/>
          </p:nvPr>
        </p:nvSpPr>
        <p:spPr>
          <a:xfrm>
            <a:off x="685800" y="2057400"/>
            <a:ext cx="10820095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</a:t>
            </a:r>
            <a:endParaRPr lang="en-US" sz="11000" dirty="0"/>
          </a:p>
        </p:txBody>
      </p:sp>
      <p:sp>
        <p:nvSpPr>
          <p:cNvPr id="7" name="number_label"/>
          <p:cNvSpPr/>
          <p:nvPr>
            <p:ph idx="105" type="body" hasCustomPrompt="1"/>
          </p:nvPr>
        </p:nvSpPr>
        <p:spPr>
          <a:xfrm>
            <a:off x="685800" y="4160520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2000" dirty="0"/>
          </a:p>
        </p:txBody>
      </p:sp>
      <p:sp>
        <p:nvSpPr>
          <p:cNvPr id="8" name="support"/>
          <p:cNvSpPr/>
          <p:nvPr>
            <p:ph idx="106" type="body" hasCustomPrompt="1"/>
          </p:nvPr>
        </p:nvSpPr>
        <p:spPr>
          <a:xfrm>
            <a:off x="1981505" y="4937760"/>
            <a:ext cx="8229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supporting points</a:t>
            </a:r>
            <a:endParaRPr lang="en-US" sz="18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big_number.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2011680"/>
            <a:ext cx="4785055" cy="406908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5" name="headline"/>
          <p:cNvSpPr/>
          <p:nvPr>
            <p:ph idx="103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6" name="support"/>
          <p:cNvSpPr/>
          <p:nvPr>
            <p:ph idx="104" type="body" hasCustomPrompt="1"/>
          </p:nvPr>
        </p:nvSpPr>
        <p:spPr>
          <a:xfrm>
            <a:off x="685800" y="2377440"/>
            <a:ext cx="539496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two supporting points</a:t>
            </a:r>
            <a:endParaRPr lang="en-US" sz="2000" dirty="0"/>
          </a:p>
        </p:txBody>
      </p:sp>
      <p:sp>
        <p:nvSpPr>
          <p:cNvPr id="7" name="number"/>
          <p:cNvSpPr/>
          <p:nvPr>
            <p:ph idx="105" type="body" hasCustomPrompt="1"/>
          </p:nvPr>
        </p:nvSpPr>
        <p:spPr>
          <a:xfrm>
            <a:off x="7086600" y="2514600"/>
            <a:ext cx="40690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8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</a:t>
            </a:r>
            <a:endParaRPr lang="en-US" sz="8800" dirty="0"/>
          </a:p>
        </p:txBody>
      </p:sp>
      <p:sp>
        <p:nvSpPr>
          <p:cNvPr id="8" name="number_label"/>
          <p:cNvSpPr/>
          <p:nvPr>
            <p:ph idx="106" type="body" hasCustomPrompt="1"/>
          </p:nvPr>
        </p:nvSpPr>
        <p:spPr>
          <a:xfrm>
            <a:off x="7086600" y="4206240"/>
            <a:ext cx="4069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18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big_number.C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2011680"/>
            <a:ext cx="4785055" cy="406908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5" name="headline"/>
          <p:cNvSpPr/>
          <p:nvPr>
            <p:ph idx="103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6" name="subhead"/>
          <p:cNvSpPr/>
          <p:nvPr>
            <p:ph idx="104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7" name="support"/>
          <p:cNvSpPr/>
          <p:nvPr>
            <p:ph idx="105" type="body" hasCustomPrompt="1"/>
          </p:nvPr>
        </p:nvSpPr>
        <p:spPr>
          <a:xfrm>
            <a:off x="685800" y="2377440"/>
            <a:ext cx="539496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two supporting points</a:t>
            </a:r>
            <a:endParaRPr lang="en-US" sz="2000" dirty="0"/>
          </a:p>
        </p:txBody>
      </p:sp>
      <p:sp>
        <p:nvSpPr>
          <p:cNvPr id="8" name="number"/>
          <p:cNvSpPr/>
          <p:nvPr>
            <p:ph idx="106" type="body" hasCustomPrompt="1"/>
          </p:nvPr>
        </p:nvSpPr>
        <p:spPr>
          <a:xfrm>
            <a:off x="7086600" y="2514600"/>
            <a:ext cx="40690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8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</a:t>
            </a:r>
            <a:endParaRPr lang="en-US" sz="8800" dirty="0"/>
          </a:p>
        </p:txBody>
      </p:sp>
      <p:sp>
        <p:nvSpPr>
          <p:cNvPr id="9" name="number_label"/>
          <p:cNvSpPr/>
          <p:nvPr>
            <p:ph idx="107" type="body" hasCustomPrompt="1"/>
          </p:nvPr>
        </p:nvSpPr>
        <p:spPr>
          <a:xfrm>
            <a:off x="7086600" y="4206240"/>
            <a:ext cx="4069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1800" dirty="0"/>
          </a:p>
        </p:txBody>
      </p:sp>
      <p:sp>
        <p:nvSpPr>
          <p:cNvPr id="10" name="source"/>
          <p:cNvSpPr/>
          <p:nvPr>
            <p:ph idx="108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chart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chart_title"/>
          <p:cNvSpPr/>
          <p:nvPr>
            <p:ph idx="103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what was measured, when</a:t>
            </a:r>
            <a:endParaRPr lang="en-US" sz="1300" dirty="0"/>
          </a:p>
        </p:txBody>
      </p:sp>
      <p:sp>
        <p:nvSpPr>
          <p:cNvPr id="6" name="chart"/>
          <p:cNvSpPr/>
          <p:nvPr>
            <p:ph idx="104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200" dirty="0"/>
          </a:p>
        </p:txBody>
      </p:sp>
      <p:sp>
        <p:nvSpPr>
          <p:cNvPr id="7" name="support"/>
          <p:cNvSpPr/>
          <p:nvPr>
            <p:ph idx="105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Takeaway, up to two points</a:t>
            </a:r>
            <a:endParaRPr lang="en-US" sz="18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chart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chart_title"/>
          <p:cNvSpPr/>
          <p:nvPr>
            <p:ph idx="104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what was measured, when</a:t>
            </a:r>
            <a:endParaRPr lang="en-US" sz="1300" dirty="0"/>
          </a:p>
        </p:txBody>
      </p:sp>
      <p:sp>
        <p:nvSpPr>
          <p:cNvPr id="7" name="chart"/>
          <p:cNvSpPr/>
          <p:nvPr>
            <p:ph idx="105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200" dirty="0"/>
          </a:p>
        </p:txBody>
      </p:sp>
      <p:sp>
        <p:nvSpPr>
          <p:cNvPr id="8" name="support"/>
          <p:cNvSpPr/>
          <p:nvPr>
            <p:ph idx="106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Takeaway, up to two points</a:t>
            </a:r>
            <a:endParaRPr lang="en-US" sz="18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chart.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support"/>
          <p:cNvSpPr/>
          <p:nvPr>
            <p:ph idx="103" type="body" hasCustomPrompt="1"/>
          </p:nvPr>
        </p:nvSpPr>
        <p:spPr>
          <a:xfrm>
            <a:off x="685800" y="1965960"/>
            <a:ext cx="1082009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takeaway</a:t>
            </a:r>
            <a:endParaRPr lang="en-US" sz="2000" dirty="0"/>
          </a:p>
        </p:txBody>
      </p:sp>
      <p:sp>
        <p:nvSpPr>
          <p:cNvPr id="6" name="chart_title"/>
          <p:cNvSpPr/>
          <p:nvPr>
            <p:ph idx="104" type="body" hasCustomPrompt="1"/>
          </p:nvPr>
        </p:nvSpPr>
        <p:spPr>
          <a:xfrm>
            <a:off x="685800" y="2560320"/>
            <a:ext cx="1082009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</a:t>
            </a:r>
            <a:endParaRPr lang="en-US" sz="1300" dirty="0"/>
          </a:p>
        </p:txBody>
      </p:sp>
      <p:sp>
        <p:nvSpPr>
          <p:cNvPr id="7" name="chart"/>
          <p:cNvSpPr/>
          <p:nvPr>
            <p:ph idx="105" type="body" hasCustomPrompt="1"/>
          </p:nvPr>
        </p:nvSpPr>
        <p:spPr>
          <a:xfrm>
            <a:off x="685800" y="2926080"/>
            <a:ext cx="10820095" cy="3154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2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chart.B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support"/>
          <p:cNvSpPr/>
          <p:nvPr>
            <p:ph idx="104" type="body" hasCustomPrompt="1"/>
          </p:nvPr>
        </p:nvSpPr>
        <p:spPr>
          <a:xfrm>
            <a:off x="685800" y="1965960"/>
            <a:ext cx="1082009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takeaway</a:t>
            </a:r>
            <a:endParaRPr lang="en-US" sz="2000" dirty="0"/>
          </a:p>
        </p:txBody>
      </p:sp>
      <p:sp>
        <p:nvSpPr>
          <p:cNvPr id="7" name="chart_title"/>
          <p:cNvSpPr/>
          <p:nvPr>
            <p:ph idx="105" type="body" hasCustomPrompt="1"/>
          </p:nvPr>
        </p:nvSpPr>
        <p:spPr>
          <a:xfrm>
            <a:off x="685800" y="2560320"/>
            <a:ext cx="1082009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</a:t>
            </a:r>
            <a:endParaRPr lang="en-US" sz="1300" dirty="0"/>
          </a:p>
        </p:txBody>
      </p:sp>
      <p:sp>
        <p:nvSpPr>
          <p:cNvPr id="8" name="chart"/>
          <p:cNvSpPr/>
          <p:nvPr>
            <p:ph idx="106" type="body" hasCustomPrompt="1"/>
          </p:nvPr>
        </p:nvSpPr>
        <p:spPr>
          <a:xfrm>
            <a:off x="685800" y="2926080"/>
            <a:ext cx="10820095" cy="3154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2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comparison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096305" y="2148840"/>
            <a:ext cx="0" cy="374904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16345" y="2304288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5" name="eyebrow"/>
          <p:cNvSpPr/>
          <p:nvPr>
            <p:ph idx="103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6" name="headline"/>
          <p:cNvSpPr/>
          <p:nvPr>
            <p:ph idx="104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7" name="left_label"/>
          <p:cNvSpPr/>
          <p:nvPr>
            <p:ph idx="105" type="body" hasCustomPrompt="1"/>
          </p:nvPr>
        </p:nvSpPr>
        <p:spPr>
          <a:xfrm>
            <a:off x="685800" y="2148840"/>
            <a:ext cx="509046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label</a:t>
            </a:r>
            <a:endParaRPr lang="en-US" sz="1600" dirty="0"/>
          </a:p>
        </p:txBody>
      </p:sp>
      <p:sp>
        <p:nvSpPr>
          <p:cNvPr id="8" name="left_body"/>
          <p:cNvSpPr/>
          <p:nvPr>
            <p:ph idx="106" type="body" hasCustomPrompt="1"/>
          </p:nvPr>
        </p:nvSpPr>
        <p:spPr>
          <a:xfrm>
            <a:off x="685800" y="2697480"/>
            <a:ext cx="5090465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</a:t>
            </a:r>
            <a:endParaRPr lang="en-US" sz="2400" dirty="0"/>
          </a:p>
        </p:txBody>
      </p:sp>
      <p:sp>
        <p:nvSpPr>
          <p:cNvPr id="9" name="right_label"/>
          <p:cNvSpPr/>
          <p:nvPr>
            <p:ph idx="107" type="body" hasCustomPrompt="1"/>
          </p:nvPr>
        </p:nvSpPr>
        <p:spPr>
          <a:xfrm>
            <a:off x="6635801" y="2148840"/>
            <a:ext cx="4871009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state label</a:t>
            </a:r>
            <a:endParaRPr lang="en-US" sz="1600" dirty="0"/>
          </a:p>
        </p:txBody>
      </p:sp>
      <p:sp>
        <p:nvSpPr>
          <p:cNvPr id="10" name="right_body"/>
          <p:cNvSpPr/>
          <p:nvPr>
            <p:ph idx="108" type="body" hasCustomPrompt="1"/>
          </p:nvPr>
        </p:nvSpPr>
        <p:spPr>
          <a:xfrm>
            <a:off x="6416345" y="2697480"/>
            <a:ext cx="5090465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state</a:t>
            </a:r>
            <a:endParaRPr lang="en-US" sz="24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comparison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096305" y="2148840"/>
            <a:ext cx="0" cy="374904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16345" y="2304288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5" name="eyebrow"/>
          <p:cNvSpPr/>
          <p:nvPr>
            <p:ph idx="103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6" name="headline"/>
          <p:cNvSpPr/>
          <p:nvPr>
            <p:ph idx="104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7" name="subhead"/>
          <p:cNvSpPr/>
          <p:nvPr>
            <p:ph idx="105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8" name="left_label"/>
          <p:cNvSpPr/>
          <p:nvPr>
            <p:ph idx="106" type="body" hasCustomPrompt="1"/>
          </p:nvPr>
        </p:nvSpPr>
        <p:spPr>
          <a:xfrm>
            <a:off x="685800" y="2148840"/>
            <a:ext cx="509046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label</a:t>
            </a:r>
            <a:endParaRPr lang="en-US" sz="1600" dirty="0"/>
          </a:p>
        </p:txBody>
      </p:sp>
      <p:sp>
        <p:nvSpPr>
          <p:cNvPr id="9" name="left_body"/>
          <p:cNvSpPr/>
          <p:nvPr>
            <p:ph idx="107" type="body" hasCustomPrompt="1"/>
          </p:nvPr>
        </p:nvSpPr>
        <p:spPr>
          <a:xfrm>
            <a:off x="685800" y="2697480"/>
            <a:ext cx="5090465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</a:t>
            </a:r>
            <a:endParaRPr lang="en-US" sz="2400" dirty="0"/>
          </a:p>
        </p:txBody>
      </p:sp>
      <p:sp>
        <p:nvSpPr>
          <p:cNvPr id="10" name="right_label"/>
          <p:cNvSpPr/>
          <p:nvPr>
            <p:ph idx="108" type="body" hasCustomPrompt="1"/>
          </p:nvPr>
        </p:nvSpPr>
        <p:spPr>
          <a:xfrm>
            <a:off x="6635801" y="2148840"/>
            <a:ext cx="4871009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state label</a:t>
            </a:r>
            <a:endParaRPr lang="en-US" sz="1600" dirty="0"/>
          </a:p>
        </p:txBody>
      </p:sp>
      <p:sp>
        <p:nvSpPr>
          <p:cNvPr id="11" name="right_body"/>
          <p:cNvSpPr/>
          <p:nvPr>
            <p:ph idx="109" type="body" hasCustomPrompt="1"/>
          </p:nvPr>
        </p:nvSpPr>
        <p:spPr>
          <a:xfrm>
            <a:off x="6416345" y="2697480"/>
            <a:ext cx="5090465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state</a:t>
            </a:r>
            <a:endParaRPr lang="en-US" sz="24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1017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comparison.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023360"/>
            <a:ext cx="10820095" cy="201168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5" name="headline"/>
          <p:cNvSpPr/>
          <p:nvPr>
            <p:ph idx="103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6" name="left_label"/>
          <p:cNvSpPr/>
          <p:nvPr>
            <p:ph idx="104" type="body" hasCustomPrompt="1"/>
          </p:nvPr>
        </p:nvSpPr>
        <p:spPr>
          <a:xfrm>
            <a:off x="96012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label</a:t>
            </a:r>
            <a:endParaRPr lang="en-US" sz="1600" dirty="0"/>
          </a:p>
        </p:txBody>
      </p:sp>
      <p:sp>
        <p:nvSpPr>
          <p:cNvPr id="7" name="left_body"/>
          <p:cNvSpPr/>
          <p:nvPr>
            <p:ph idx="105" type="body" hasCustomPrompt="1"/>
          </p:nvPr>
        </p:nvSpPr>
        <p:spPr>
          <a:xfrm>
            <a:off x="3520440" y="2194560"/>
            <a:ext cx="7711135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</a:t>
            </a:r>
            <a:endParaRPr lang="en-US" sz="2400" dirty="0"/>
          </a:p>
        </p:txBody>
      </p:sp>
      <p:sp>
        <p:nvSpPr>
          <p:cNvPr id="8" name="right_label"/>
          <p:cNvSpPr/>
          <p:nvPr>
            <p:ph idx="106" type="body" hasCustomPrompt="1"/>
          </p:nvPr>
        </p:nvSpPr>
        <p:spPr>
          <a:xfrm>
            <a:off x="96012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state label</a:t>
            </a:r>
            <a:endParaRPr lang="en-US" sz="1600" dirty="0"/>
          </a:p>
        </p:txBody>
      </p:sp>
      <p:sp>
        <p:nvSpPr>
          <p:cNvPr id="9" name="right_body"/>
          <p:cNvSpPr/>
          <p:nvPr>
            <p:ph idx="107" type="body" hasCustomPrompt="1"/>
          </p:nvPr>
        </p:nvSpPr>
        <p:spPr>
          <a:xfrm>
            <a:off x="3520440" y="4206240"/>
            <a:ext cx="7711135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state</a:t>
            </a:r>
            <a:endParaRPr lang="en-US" sz="2400" dirty="0"/>
          </a:p>
        </p:txBody>
      </p:sp>
      <p:sp>
        <p:nvSpPr>
          <p:cNvPr id="10" name="source"/>
          <p:cNvSpPr/>
          <p:nvPr>
            <p:ph idx="108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1018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comparison.B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023360"/>
            <a:ext cx="10820095" cy="201168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5" name="headline"/>
          <p:cNvSpPr/>
          <p:nvPr>
            <p:ph idx="103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6" name="subhead"/>
          <p:cNvSpPr/>
          <p:nvPr>
            <p:ph idx="104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7" name="left_label"/>
          <p:cNvSpPr/>
          <p:nvPr>
            <p:ph idx="105" type="body" hasCustomPrompt="1"/>
          </p:nvPr>
        </p:nvSpPr>
        <p:spPr>
          <a:xfrm>
            <a:off x="96012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label</a:t>
            </a:r>
            <a:endParaRPr lang="en-US" sz="1600" dirty="0"/>
          </a:p>
        </p:txBody>
      </p:sp>
      <p:sp>
        <p:nvSpPr>
          <p:cNvPr id="8" name="left_body"/>
          <p:cNvSpPr/>
          <p:nvPr>
            <p:ph idx="106" type="body" hasCustomPrompt="1"/>
          </p:nvPr>
        </p:nvSpPr>
        <p:spPr>
          <a:xfrm>
            <a:off x="3520440" y="2194560"/>
            <a:ext cx="7711135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</a:t>
            </a:r>
            <a:endParaRPr lang="en-US" sz="2400" dirty="0"/>
          </a:p>
        </p:txBody>
      </p:sp>
      <p:sp>
        <p:nvSpPr>
          <p:cNvPr id="9" name="right_label"/>
          <p:cNvSpPr/>
          <p:nvPr>
            <p:ph idx="107" type="body" hasCustomPrompt="1"/>
          </p:nvPr>
        </p:nvSpPr>
        <p:spPr>
          <a:xfrm>
            <a:off x="96012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state label</a:t>
            </a:r>
            <a:endParaRPr lang="en-US" sz="1600" dirty="0"/>
          </a:p>
        </p:txBody>
      </p:sp>
      <p:sp>
        <p:nvSpPr>
          <p:cNvPr id="10" name="right_body"/>
          <p:cNvSpPr/>
          <p:nvPr>
            <p:ph idx="108" type="body" hasCustomPrompt="1"/>
          </p:nvPr>
        </p:nvSpPr>
        <p:spPr>
          <a:xfrm>
            <a:off x="3520440" y="4206240"/>
            <a:ext cx="7711135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state</a:t>
            </a:r>
            <a:endParaRPr lang="en-US" sz="24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1019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diagram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diagram"/>
          <p:cNvSpPr/>
          <p:nvPr>
            <p:ph idx="103" type="body" hasCustomPrompt="1"/>
          </p:nvPr>
        </p:nvSpPr>
        <p:spPr>
          <a:xfrm>
            <a:off x="685800" y="2148840"/>
            <a:ext cx="10820095" cy="2971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endParaRPr lang="en-US" sz="1200" dirty="0"/>
          </a:p>
        </p:txBody>
      </p:sp>
      <p:sp>
        <p:nvSpPr>
          <p:cNvPr id="6" name="support"/>
          <p:cNvSpPr/>
          <p:nvPr>
            <p:ph idx="104" type="body" hasCustomPrompt="1"/>
          </p:nvPr>
        </p:nvSpPr>
        <p:spPr>
          <a:xfrm>
            <a:off x="685800" y="5349240"/>
            <a:ext cx="108200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Caption: what the diagram shows</a:t>
            </a:r>
            <a:endParaRPr lang="en-US" sz="1800" dirty="0"/>
          </a:p>
        </p:txBody>
      </p:sp>
      <p:sp>
        <p:nvSpPr>
          <p:cNvPr id="7" name="source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1020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diagram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diagram"/>
          <p:cNvSpPr/>
          <p:nvPr>
            <p:ph idx="104" type="body" hasCustomPrompt="1"/>
          </p:nvPr>
        </p:nvSpPr>
        <p:spPr>
          <a:xfrm>
            <a:off x="685800" y="2148840"/>
            <a:ext cx="10820095" cy="2971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endParaRPr lang="en-US" sz="1200" dirty="0"/>
          </a:p>
        </p:txBody>
      </p:sp>
      <p:sp>
        <p:nvSpPr>
          <p:cNvPr id="7" name="support"/>
          <p:cNvSpPr/>
          <p:nvPr>
            <p:ph idx="105" type="body" hasCustomPrompt="1"/>
          </p:nvPr>
        </p:nvSpPr>
        <p:spPr>
          <a:xfrm>
            <a:off x="685800" y="5349240"/>
            <a:ext cx="108200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Caption: what the diagram shows</a:t>
            </a:r>
            <a:endParaRPr lang="en-US" sz="18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1021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diagram.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diagram"/>
          <p:cNvSpPr/>
          <p:nvPr>
            <p:ph idx="103" type="body" hasCustomPrompt="1"/>
          </p:nvPr>
        </p:nvSpPr>
        <p:spPr>
          <a:xfrm>
            <a:off x="685800" y="2057400"/>
            <a:ext cx="6858000" cy="3977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endParaRPr lang="en-US" sz="1200" dirty="0"/>
          </a:p>
        </p:txBody>
      </p:sp>
      <p:sp>
        <p:nvSpPr>
          <p:cNvPr id="6" name="support"/>
          <p:cNvSpPr/>
          <p:nvPr>
            <p:ph idx="104" type="body" hasCustomPrompt="1"/>
          </p:nvPr>
        </p:nvSpPr>
        <p:spPr>
          <a:xfrm>
            <a:off x="8001000" y="2286000"/>
            <a:ext cx="3504895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two supporting points</a:t>
            </a:r>
            <a:endParaRPr lang="en-US" sz="1800" dirty="0"/>
          </a:p>
        </p:txBody>
      </p:sp>
      <p:sp>
        <p:nvSpPr>
          <p:cNvPr id="7" name="source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1022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diagram.B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diagram"/>
          <p:cNvSpPr/>
          <p:nvPr>
            <p:ph idx="104" type="body" hasCustomPrompt="1"/>
          </p:nvPr>
        </p:nvSpPr>
        <p:spPr>
          <a:xfrm>
            <a:off x="685800" y="2057400"/>
            <a:ext cx="6858000" cy="3977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endParaRPr lang="en-US" sz="1200" dirty="0"/>
          </a:p>
        </p:txBody>
      </p:sp>
      <p:sp>
        <p:nvSpPr>
          <p:cNvPr id="7" name="support"/>
          <p:cNvSpPr/>
          <p:nvPr>
            <p:ph idx="105" type="body" hasCustomPrompt="1"/>
          </p:nvPr>
        </p:nvSpPr>
        <p:spPr>
          <a:xfrm>
            <a:off x="8001000" y="2286000"/>
            <a:ext cx="3504895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two supporting points</a:t>
            </a:r>
            <a:endParaRPr lang="en-US" sz="18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1023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trend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chart_title"/>
          <p:cNvSpPr/>
          <p:nvPr>
            <p:ph idx="103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measure, unit, period</a:t>
            </a:r>
            <a:endParaRPr lang="en-US" sz="1300" dirty="0"/>
          </a:p>
        </p:txBody>
      </p:sp>
      <p:sp>
        <p:nvSpPr>
          <p:cNvPr id="6" name="chart"/>
          <p:cNvSpPr/>
          <p:nvPr>
            <p:ph idx="104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200" dirty="0"/>
          </a:p>
        </p:txBody>
      </p:sp>
      <p:sp>
        <p:nvSpPr>
          <p:cNvPr id="7" name="support"/>
          <p:cNvSpPr/>
          <p:nvPr>
            <p:ph idx="105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Takeaway, up to two points</a:t>
            </a:r>
            <a:endParaRPr lang="en-US" sz="18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1024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trend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chart_title"/>
          <p:cNvSpPr/>
          <p:nvPr>
            <p:ph idx="104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measure, unit, period</a:t>
            </a:r>
            <a:endParaRPr lang="en-US" sz="1300" dirty="0"/>
          </a:p>
        </p:txBody>
      </p:sp>
      <p:sp>
        <p:nvSpPr>
          <p:cNvPr id="7" name="chart"/>
          <p:cNvSpPr/>
          <p:nvPr>
            <p:ph idx="105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200" dirty="0"/>
          </a:p>
        </p:txBody>
      </p:sp>
      <p:sp>
        <p:nvSpPr>
          <p:cNvPr id="8" name="support"/>
          <p:cNvSpPr/>
          <p:nvPr>
            <p:ph idx="106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Takeaway, up to two points</a:t>
            </a:r>
            <a:endParaRPr lang="en-US" sz="18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1025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trend.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support"/>
          <p:cNvSpPr/>
          <p:nvPr>
            <p:ph idx="103" type="body" hasCustomPrompt="1"/>
          </p:nvPr>
        </p:nvSpPr>
        <p:spPr>
          <a:xfrm>
            <a:off x="685800" y="1965960"/>
            <a:ext cx="1082009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takeaway</a:t>
            </a:r>
            <a:endParaRPr lang="en-US" sz="2000" dirty="0"/>
          </a:p>
        </p:txBody>
      </p:sp>
      <p:sp>
        <p:nvSpPr>
          <p:cNvPr id="6" name="chart_title"/>
          <p:cNvSpPr/>
          <p:nvPr>
            <p:ph idx="104" type="body" hasCustomPrompt="1"/>
          </p:nvPr>
        </p:nvSpPr>
        <p:spPr>
          <a:xfrm>
            <a:off x="685800" y="2560320"/>
            <a:ext cx="1082009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</a:t>
            </a:r>
            <a:endParaRPr lang="en-US" sz="1300" dirty="0"/>
          </a:p>
        </p:txBody>
      </p:sp>
      <p:sp>
        <p:nvSpPr>
          <p:cNvPr id="7" name="chart"/>
          <p:cNvSpPr/>
          <p:nvPr>
            <p:ph idx="105" type="body" hasCustomPrompt="1"/>
          </p:nvPr>
        </p:nvSpPr>
        <p:spPr>
          <a:xfrm>
            <a:off x="685800" y="2926080"/>
            <a:ext cx="10820095" cy="3154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2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1026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trend.B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support"/>
          <p:cNvSpPr/>
          <p:nvPr>
            <p:ph idx="104" type="body" hasCustomPrompt="1"/>
          </p:nvPr>
        </p:nvSpPr>
        <p:spPr>
          <a:xfrm>
            <a:off x="685800" y="1965960"/>
            <a:ext cx="1082009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takeaway</a:t>
            </a:r>
            <a:endParaRPr lang="en-US" sz="2000" dirty="0"/>
          </a:p>
        </p:txBody>
      </p:sp>
      <p:sp>
        <p:nvSpPr>
          <p:cNvPr id="7" name="chart_title"/>
          <p:cNvSpPr/>
          <p:nvPr>
            <p:ph idx="105" type="body" hasCustomPrompt="1"/>
          </p:nvPr>
        </p:nvSpPr>
        <p:spPr>
          <a:xfrm>
            <a:off x="685800" y="2560320"/>
            <a:ext cx="1082009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</a:t>
            </a:r>
            <a:endParaRPr lang="en-US" sz="1300" dirty="0"/>
          </a:p>
        </p:txBody>
      </p:sp>
      <p:sp>
        <p:nvSpPr>
          <p:cNvPr id="8" name="chart"/>
          <p:cNvSpPr/>
          <p:nvPr>
            <p:ph idx="106" type="body" hasCustomPrompt="1"/>
          </p:nvPr>
        </p:nvSpPr>
        <p:spPr>
          <a:xfrm>
            <a:off x="685800" y="2926080"/>
            <a:ext cx="10820095" cy="3154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2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1027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scatter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chart_title"/>
          <p:cNvSpPr/>
          <p:nvPr>
            <p:ph idx="103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both variables and units</a:t>
            </a:r>
            <a:endParaRPr lang="en-US" sz="1300" dirty="0"/>
          </a:p>
        </p:txBody>
      </p:sp>
      <p:sp>
        <p:nvSpPr>
          <p:cNvPr id="6" name="chart"/>
          <p:cNvSpPr/>
          <p:nvPr>
            <p:ph idx="104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200" dirty="0"/>
          </a:p>
        </p:txBody>
      </p:sp>
      <p:sp>
        <p:nvSpPr>
          <p:cNvPr id="7" name="support"/>
          <p:cNvSpPr/>
          <p:nvPr>
            <p:ph idx="105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Takeaway, up to two points</a:t>
            </a:r>
            <a:endParaRPr lang="en-US" sz="18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1028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scatter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chart_title"/>
          <p:cNvSpPr/>
          <p:nvPr>
            <p:ph idx="104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both variables and units</a:t>
            </a:r>
            <a:endParaRPr lang="en-US" sz="1300" dirty="0"/>
          </a:p>
        </p:txBody>
      </p:sp>
      <p:sp>
        <p:nvSpPr>
          <p:cNvPr id="7" name="chart"/>
          <p:cNvSpPr/>
          <p:nvPr>
            <p:ph idx="105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200" dirty="0"/>
          </a:p>
        </p:txBody>
      </p:sp>
      <p:sp>
        <p:nvSpPr>
          <p:cNvPr id="8" name="support"/>
          <p:cNvSpPr/>
          <p:nvPr>
            <p:ph idx="106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Takeaway, up to two points</a:t>
            </a:r>
            <a:endParaRPr lang="en-US" sz="18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1029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text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point1_index"/>
          <p:cNvSpPr/>
          <p:nvPr>
            <p:ph idx="103" type="body" hasCustomPrompt="1"/>
          </p:nvPr>
        </p:nvSpPr>
        <p:spPr>
          <a:xfrm>
            <a:off x="685800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point1"/>
          <p:cNvSpPr/>
          <p:nvPr>
            <p:ph idx="104" type="body" hasCustomPrompt="1"/>
          </p:nvPr>
        </p:nvSpPr>
        <p:spPr>
          <a:xfrm>
            <a:off x="685800" y="2926080"/>
            <a:ext cx="3301898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reason, one or two short lines</a:t>
            </a:r>
            <a:endParaRPr lang="en-US" sz="2000" dirty="0"/>
          </a:p>
        </p:txBody>
      </p:sp>
      <p:sp>
        <p:nvSpPr>
          <p:cNvPr id="7" name="point2_index"/>
          <p:cNvSpPr/>
          <p:nvPr>
            <p:ph idx="105" type="body" hasCustomPrompt="1"/>
          </p:nvPr>
        </p:nvSpPr>
        <p:spPr>
          <a:xfrm>
            <a:off x="4444898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point2"/>
          <p:cNvSpPr/>
          <p:nvPr>
            <p:ph idx="106" type="body" hasCustomPrompt="1"/>
          </p:nvPr>
        </p:nvSpPr>
        <p:spPr>
          <a:xfrm>
            <a:off x="4444898" y="2926080"/>
            <a:ext cx="3301898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reason, one or two short lines</a:t>
            </a:r>
            <a:endParaRPr lang="en-US" sz="2000" dirty="0"/>
          </a:p>
        </p:txBody>
      </p:sp>
      <p:sp>
        <p:nvSpPr>
          <p:cNvPr id="9" name="point3_index"/>
          <p:cNvSpPr/>
          <p:nvPr>
            <p:ph idx="107" type="body" hasCustomPrompt="1"/>
          </p:nvPr>
        </p:nvSpPr>
        <p:spPr>
          <a:xfrm>
            <a:off x="8203997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point3"/>
          <p:cNvSpPr/>
          <p:nvPr>
            <p:ph idx="108" type="body" hasCustomPrompt="1"/>
          </p:nvPr>
        </p:nvSpPr>
        <p:spPr>
          <a:xfrm>
            <a:off x="8203997" y="2926080"/>
            <a:ext cx="3301898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reason, one or two short lines</a:t>
            </a:r>
            <a:endParaRPr lang="en-US" sz="20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1030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text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point1_index"/>
          <p:cNvSpPr/>
          <p:nvPr>
            <p:ph idx="104" type="body" hasCustomPrompt="1"/>
          </p:nvPr>
        </p:nvSpPr>
        <p:spPr>
          <a:xfrm>
            <a:off x="685800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point1"/>
          <p:cNvSpPr/>
          <p:nvPr>
            <p:ph idx="105" type="body" hasCustomPrompt="1"/>
          </p:nvPr>
        </p:nvSpPr>
        <p:spPr>
          <a:xfrm>
            <a:off x="685800" y="2926080"/>
            <a:ext cx="3301898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reason, one or two short lines</a:t>
            </a:r>
            <a:endParaRPr lang="en-US" sz="2000" dirty="0"/>
          </a:p>
        </p:txBody>
      </p:sp>
      <p:sp>
        <p:nvSpPr>
          <p:cNvPr id="8" name="point2_index"/>
          <p:cNvSpPr/>
          <p:nvPr>
            <p:ph idx="106" type="body" hasCustomPrompt="1"/>
          </p:nvPr>
        </p:nvSpPr>
        <p:spPr>
          <a:xfrm>
            <a:off x="4444898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point2"/>
          <p:cNvSpPr/>
          <p:nvPr>
            <p:ph idx="107" type="body" hasCustomPrompt="1"/>
          </p:nvPr>
        </p:nvSpPr>
        <p:spPr>
          <a:xfrm>
            <a:off x="4444898" y="2926080"/>
            <a:ext cx="3301898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reason, one or two short lines</a:t>
            </a:r>
            <a:endParaRPr lang="en-US" sz="2000" dirty="0"/>
          </a:p>
        </p:txBody>
      </p:sp>
      <p:sp>
        <p:nvSpPr>
          <p:cNvPr id="10" name="point3_index"/>
          <p:cNvSpPr/>
          <p:nvPr>
            <p:ph idx="108" type="body" hasCustomPrompt="1"/>
          </p:nvPr>
        </p:nvSpPr>
        <p:spPr>
          <a:xfrm>
            <a:off x="8203997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point3"/>
          <p:cNvSpPr/>
          <p:nvPr>
            <p:ph idx="109" type="body" hasCustomPrompt="1"/>
          </p:nvPr>
        </p:nvSpPr>
        <p:spPr>
          <a:xfrm>
            <a:off x="8203997" y="2926080"/>
            <a:ext cx="3301898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reason, one or two short lines</a:t>
            </a:r>
            <a:endParaRPr lang="en-US" sz="20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1031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text.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points"/>
          <p:cNvSpPr/>
          <p:nvPr>
            <p:ph idx="103" type="body" hasCustomPrompt="1"/>
          </p:nvPr>
        </p:nvSpPr>
        <p:spPr>
          <a:xfrm>
            <a:off x="685800" y="2286000"/>
            <a:ext cx="868680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 five short supporting points</a:t>
            </a:r>
            <a:endParaRPr lang="en-US" sz="2200" dirty="0"/>
          </a:p>
        </p:txBody>
      </p:sp>
      <p:sp>
        <p:nvSpPr>
          <p:cNvPr id="6" name="source"/>
          <p:cNvSpPr/>
          <p:nvPr>
            <p:ph idx="104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1032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text.B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points"/>
          <p:cNvSpPr/>
          <p:nvPr>
            <p:ph idx="104" type="body" hasCustomPrompt="1"/>
          </p:nvPr>
        </p:nvSpPr>
        <p:spPr>
          <a:xfrm>
            <a:off x="685800" y="2286000"/>
            <a:ext cx="868680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 five short supporting points</a:t>
            </a:r>
            <a:endParaRPr lang="en-US" sz="2200" dirty="0"/>
          </a:p>
        </p:txBody>
      </p:sp>
      <p:sp>
        <p:nvSpPr>
          <p:cNvPr id="7" name="source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1033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table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table"/>
          <p:cNvSpPr/>
          <p:nvPr>
            <p:ph idx="103" type="body" hasCustomPrompt="1"/>
          </p:nvPr>
        </p:nvSpPr>
        <p:spPr>
          <a:xfrm>
            <a:off x="685800" y="2148840"/>
            <a:ext cx="10820095" cy="3154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200" dirty="0"/>
          </a:p>
        </p:txBody>
      </p:sp>
      <p:sp>
        <p:nvSpPr>
          <p:cNvPr id="6" name="support"/>
          <p:cNvSpPr/>
          <p:nvPr>
            <p:ph idx="104" type="body" hasCustomPrompt="1"/>
          </p:nvPr>
        </p:nvSpPr>
        <p:spPr>
          <a:xfrm>
            <a:off x="685800" y="5440680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the value to look at and why</a:t>
            </a:r>
            <a:endParaRPr lang="en-US" sz="1800" dirty="0"/>
          </a:p>
        </p:txBody>
      </p:sp>
      <p:sp>
        <p:nvSpPr>
          <p:cNvPr id="7" name="source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1034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table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table"/>
          <p:cNvSpPr/>
          <p:nvPr>
            <p:ph idx="104" type="body" hasCustomPrompt="1"/>
          </p:nvPr>
        </p:nvSpPr>
        <p:spPr>
          <a:xfrm>
            <a:off x="685800" y="2148840"/>
            <a:ext cx="10820095" cy="3154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200" dirty="0"/>
          </a:p>
        </p:txBody>
      </p:sp>
      <p:sp>
        <p:nvSpPr>
          <p:cNvPr id="7" name="support"/>
          <p:cNvSpPr/>
          <p:nvPr>
            <p:ph idx="105" type="body" hasCustomPrompt="1"/>
          </p:nvPr>
        </p:nvSpPr>
        <p:spPr>
          <a:xfrm>
            <a:off x="685800" y="5440680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the value to look at and why</a:t>
            </a:r>
            <a:endParaRPr lang="en-US" sz="18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1035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mixed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148840"/>
            <a:ext cx="5120640" cy="37947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2331720"/>
            <a:ext cx="0" cy="338328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5" name="eyebrow"/>
          <p:cNvSpPr/>
          <p:nvPr>
            <p:ph idx="103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6" name="headline"/>
          <p:cNvSpPr/>
          <p:nvPr>
            <p:ph idx="104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7" name="number"/>
          <p:cNvSpPr/>
          <p:nvPr>
            <p:ph idx="105" type="body" hasCustomPrompt="1"/>
          </p:nvPr>
        </p:nvSpPr>
        <p:spPr>
          <a:xfrm>
            <a:off x="1005840" y="2377440"/>
            <a:ext cx="4480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</a:t>
            </a:r>
            <a:endParaRPr lang="en-US" sz="8000" dirty="0"/>
          </a:p>
        </p:txBody>
      </p:sp>
      <p:sp>
        <p:nvSpPr>
          <p:cNvPr id="8" name="number_label"/>
          <p:cNvSpPr/>
          <p:nvPr>
            <p:ph idx="106" type="body" hasCustomPrompt="1"/>
          </p:nvPr>
        </p:nvSpPr>
        <p:spPr>
          <a:xfrm>
            <a:off x="1005840" y="3931920"/>
            <a:ext cx="4480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1800" dirty="0"/>
          </a:p>
        </p:txBody>
      </p:sp>
      <p:sp>
        <p:nvSpPr>
          <p:cNvPr id="9" name="quote"/>
          <p:cNvSpPr/>
          <p:nvPr>
            <p:ph idx="107" type="body" hasCustomPrompt="1"/>
          </p:nvPr>
        </p:nvSpPr>
        <p:spPr>
          <a:xfrm>
            <a:off x="6446520" y="2331720"/>
            <a:ext cx="5059375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or observation, verbatim from the source</a:t>
            </a:r>
            <a:endParaRPr lang="en-US" sz="2200" dirty="0"/>
          </a:p>
        </p:txBody>
      </p:sp>
      <p:sp>
        <p:nvSpPr>
          <p:cNvPr id="10" name="quote_source"/>
          <p:cNvSpPr/>
          <p:nvPr>
            <p:ph idx="108" type="body" hasCustomPrompt="1"/>
          </p:nvPr>
        </p:nvSpPr>
        <p:spPr>
          <a:xfrm>
            <a:off x="6446520" y="5120640"/>
            <a:ext cx="505937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said it, where</a:t>
            </a: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1036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mixed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148840"/>
            <a:ext cx="5120640" cy="37947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2331720"/>
            <a:ext cx="0" cy="338328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5" name="eyebrow"/>
          <p:cNvSpPr/>
          <p:nvPr>
            <p:ph idx="103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6" name="headline"/>
          <p:cNvSpPr/>
          <p:nvPr>
            <p:ph idx="104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7" name="subhead"/>
          <p:cNvSpPr/>
          <p:nvPr>
            <p:ph idx="105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8" name="number"/>
          <p:cNvSpPr/>
          <p:nvPr>
            <p:ph idx="106" type="body" hasCustomPrompt="1"/>
          </p:nvPr>
        </p:nvSpPr>
        <p:spPr>
          <a:xfrm>
            <a:off x="1005840" y="2377440"/>
            <a:ext cx="4480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</a:t>
            </a:r>
            <a:endParaRPr lang="en-US" sz="8000" dirty="0"/>
          </a:p>
        </p:txBody>
      </p:sp>
      <p:sp>
        <p:nvSpPr>
          <p:cNvPr id="9" name="number_label"/>
          <p:cNvSpPr/>
          <p:nvPr>
            <p:ph idx="107" type="body" hasCustomPrompt="1"/>
          </p:nvPr>
        </p:nvSpPr>
        <p:spPr>
          <a:xfrm>
            <a:off x="1005840" y="3931920"/>
            <a:ext cx="4480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1800" dirty="0"/>
          </a:p>
        </p:txBody>
      </p:sp>
      <p:sp>
        <p:nvSpPr>
          <p:cNvPr id="10" name="quote"/>
          <p:cNvSpPr/>
          <p:nvPr>
            <p:ph idx="108" type="body" hasCustomPrompt="1"/>
          </p:nvPr>
        </p:nvSpPr>
        <p:spPr>
          <a:xfrm>
            <a:off x="6446520" y="2331720"/>
            <a:ext cx="5059375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or observation, verbatim from the source</a:t>
            </a:r>
            <a:endParaRPr lang="en-US" sz="2200" dirty="0"/>
          </a:p>
        </p:txBody>
      </p:sp>
      <p:sp>
        <p:nvSpPr>
          <p:cNvPr id="11" name="quote_source"/>
          <p:cNvSpPr/>
          <p:nvPr>
            <p:ph idx="109" type="body" hasCustomPrompt="1"/>
          </p:nvPr>
        </p:nvSpPr>
        <p:spPr>
          <a:xfrm>
            <a:off x="6446520" y="5120640"/>
            <a:ext cx="505937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said it, where</a:t>
            </a: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1037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mechanism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diagram"/>
          <p:cNvSpPr/>
          <p:nvPr>
            <p:ph idx="103" type="body" hasCustomPrompt="1"/>
          </p:nvPr>
        </p:nvSpPr>
        <p:spPr>
          <a:xfrm>
            <a:off x="685800" y="2103120"/>
            <a:ext cx="10820095" cy="3246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endParaRPr lang="en-US" sz="1200" dirty="0"/>
          </a:p>
        </p:txBody>
      </p:sp>
      <p:sp>
        <p:nvSpPr>
          <p:cNvPr id="6" name="support"/>
          <p:cNvSpPr/>
          <p:nvPr>
            <p:ph idx="104" type="body" hasCustomPrompt="1"/>
          </p:nvPr>
        </p:nvSpPr>
        <p:spPr>
          <a:xfrm>
            <a:off x="685800" y="5486400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Caption: what the mechanism shows and what is unmeasured</a:t>
            </a:r>
            <a:endParaRPr lang="en-US" sz="1700" dirty="0"/>
          </a:p>
        </p:txBody>
      </p:sp>
      <p:sp>
        <p:nvSpPr>
          <p:cNvPr id="7" name="source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1038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_mechanism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diagram"/>
          <p:cNvSpPr/>
          <p:nvPr>
            <p:ph idx="104" type="body" hasCustomPrompt="1"/>
          </p:nvPr>
        </p:nvSpPr>
        <p:spPr>
          <a:xfrm>
            <a:off x="685800" y="2103120"/>
            <a:ext cx="10820095" cy="3246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endParaRPr lang="en-US" sz="1200" dirty="0"/>
          </a:p>
        </p:txBody>
      </p:sp>
      <p:sp>
        <p:nvSpPr>
          <p:cNvPr id="7" name="support"/>
          <p:cNvSpPr/>
          <p:nvPr>
            <p:ph idx="105" type="body" hasCustomPrompt="1"/>
          </p:nvPr>
        </p:nvSpPr>
        <p:spPr>
          <a:xfrm>
            <a:off x="685800" y="5486400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Caption: what the mechanism shows and what is unmeasured</a:t>
            </a:r>
            <a:endParaRPr lang="en-US" sz="17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1039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itioning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statement"/>
          <p:cNvSpPr/>
          <p:nvPr>
            <p:ph idx="103" type="body" hasCustomPrompt="1"/>
          </p:nvPr>
        </p:nvSpPr>
        <p:spPr>
          <a:xfrm>
            <a:off x="685800" y="2194560"/>
            <a:ext cx="969264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statement, verbatim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1040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ives_risks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table"/>
          <p:cNvSpPr/>
          <p:nvPr>
            <p:ph idx="103" type="body" hasCustomPrompt="1"/>
          </p:nvPr>
        </p:nvSpPr>
        <p:spPr>
          <a:xfrm>
            <a:off x="685800" y="2103120"/>
            <a:ext cx="1082009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1041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folio_funnel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funnel"/>
          <p:cNvSpPr/>
          <p:nvPr>
            <p:ph idx="103" type="body" hasCustomPrompt="1"/>
          </p:nvPr>
        </p:nvSpPr>
        <p:spPr>
          <a:xfrm>
            <a:off x="685800" y="2194560"/>
            <a:ext cx="10820095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</a:t>
            </a:r>
            <a:endParaRPr lang="en-US" sz="1200" dirty="0"/>
          </a:p>
        </p:txBody>
      </p:sp>
      <p:sp>
        <p:nvSpPr>
          <p:cNvPr id="6" name="support"/>
          <p:cNvSpPr/>
          <p:nvPr>
            <p:ph idx="104" type="body" hasCustomPrompt="1"/>
          </p:nvPr>
        </p:nvSpPr>
        <p:spPr>
          <a:xfrm>
            <a:off x="685800" y="5486400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1800" dirty="0"/>
          </a:p>
        </p:txBody>
      </p:sp>
      <p:sp>
        <p:nvSpPr>
          <p:cNvPr id="7" name="source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1042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folio_funnel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funnel"/>
          <p:cNvSpPr/>
          <p:nvPr>
            <p:ph idx="104" type="body" hasCustomPrompt="1"/>
          </p:nvPr>
        </p:nvSpPr>
        <p:spPr>
          <a:xfrm>
            <a:off x="685800" y="2194560"/>
            <a:ext cx="10820095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</a:t>
            </a:r>
            <a:endParaRPr lang="en-US" sz="1200" dirty="0"/>
          </a:p>
        </p:txBody>
      </p:sp>
      <p:sp>
        <p:nvSpPr>
          <p:cNvPr id="7" name="support"/>
          <p:cNvSpPr/>
          <p:nvPr>
            <p:ph idx="105" type="body" hasCustomPrompt="1"/>
          </p:nvPr>
        </p:nvSpPr>
        <p:spPr>
          <a:xfrm>
            <a:off x="685800" y="5486400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18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1043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.A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143000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thesis"/>
          <p:cNvSpPr/>
          <p:nvPr>
            <p:ph idx="101" type="title" hasCustomPrompt="1"/>
          </p:nvPr>
        </p:nvSpPr>
        <p:spPr>
          <a:xfrm>
            <a:off x="685800" y="1417320"/>
            <a:ext cx="987552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restated as a full sentence</a:t>
            </a:r>
            <a:endParaRPr lang="en-US" sz="3600" dirty="0"/>
          </a:p>
        </p:txBody>
      </p:sp>
      <p:sp>
        <p:nvSpPr>
          <p:cNvPr id="4" name="ask"/>
          <p:cNvSpPr/>
          <p:nvPr>
            <p:ph idx="102" type="body" hasCustomPrompt="1"/>
          </p:nvPr>
        </p:nvSpPr>
        <p:spPr>
          <a:xfrm>
            <a:off x="685800" y="3977640"/>
            <a:ext cx="98755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ask</a:t>
            </a:r>
            <a:endParaRPr lang="en-US" sz="2200" dirty="0"/>
          </a:p>
        </p:txBody>
      </p:sp>
      <p:sp>
        <p:nvSpPr>
          <p:cNvPr id="5" name="contact"/>
          <p:cNvSpPr/>
          <p:nvPr>
            <p:ph idx="103" type="body" hasCustomPrompt="1"/>
          </p:nvPr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400" dirty="0"/>
          </a:p>
        </p:txBody>
      </p:sp>
      <p:sp>
        <p:nvSpPr>
          <p:cNvPr id="6" name="logo"/>
          <p:cNvSpPr/>
          <p:nvPr>
            <p:ph idx="104" type="body" hasCustomPrompt="1"/>
          </p:nvPr>
        </p:nvSpPr>
        <p:spPr>
          <a:xfrm>
            <a:off x="9966960" y="5715000"/>
            <a:ext cx="153619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endix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label and parent claim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title</a:t>
            </a:r>
            <a:endParaRPr lang="en-US" sz="2400" dirty="0"/>
          </a:p>
        </p:txBody>
      </p:sp>
      <p:sp>
        <p:nvSpPr>
          <p:cNvPr id="5" name="content"/>
          <p:cNvSpPr/>
          <p:nvPr>
            <p:ph idx="103" type="body" hasCustomPrompt="1"/>
          </p:nvPr>
        </p:nvSpPr>
        <p:spPr>
          <a:xfrm>
            <a:off x="685800" y="1737360"/>
            <a:ext cx="10820095" cy="434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6" name="detail"/>
          <p:cNvSpPr/>
          <p:nvPr>
            <p:ph idx="104" type="body" hasCustomPrompt="1"/>
          </p:nvPr>
        </p:nvSpPr>
        <p:spPr>
          <a:xfrm>
            <a:off x="685800" y="1737360"/>
            <a:ext cx="10820095" cy="434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for entries without a table</a:t>
            </a:r>
            <a:endParaRPr lang="en-US" sz="1500" dirty="0"/>
          </a:p>
        </p:txBody>
      </p:sp>
      <p:sp>
        <p:nvSpPr>
          <p:cNvPr id="7" name="source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1045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d_exec_summary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194560"/>
            <a:ext cx="3931920" cy="3886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5" name="headline"/>
          <p:cNvSpPr/>
          <p:nvPr>
            <p:ph idx="103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6" name="figure"/>
          <p:cNvSpPr/>
          <p:nvPr>
            <p:ph idx="104" type="body" hasCustomPrompt="1"/>
          </p:nvPr>
        </p:nvSpPr>
        <p:spPr>
          <a:xfrm>
            <a:off x="1005840" y="2560320"/>
            <a:ext cx="3291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figure</a:t>
            </a:r>
            <a:endParaRPr lang="en-US" sz="5400" dirty="0"/>
          </a:p>
        </p:txBody>
      </p:sp>
      <p:sp>
        <p:nvSpPr>
          <p:cNvPr id="7" name="figure_label"/>
          <p:cNvSpPr/>
          <p:nvPr>
            <p:ph idx="105" type="body" hasCustomPrompt="1"/>
          </p:nvPr>
        </p:nvSpPr>
        <p:spPr>
          <a:xfrm>
            <a:off x="1005840" y="3840480"/>
            <a:ext cx="3291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1400" dirty="0"/>
          </a:p>
        </p:txBody>
      </p:sp>
      <p:sp>
        <p:nvSpPr>
          <p:cNvPr id="8" name="prose"/>
          <p:cNvSpPr/>
          <p:nvPr>
            <p:ph idx="106" type="body" hasCustomPrompt="1"/>
          </p:nvPr>
        </p:nvSpPr>
        <p:spPr>
          <a:xfrm>
            <a:off x="5074920" y="2194560"/>
            <a:ext cx="6430975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prose in full sentences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1046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d_claim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evidence"/>
          <p:cNvSpPr/>
          <p:nvPr>
            <p:ph idx="103" type="body" hasCustomPrompt="1"/>
          </p:nvPr>
        </p:nvSpPr>
        <p:spPr>
          <a:xfrm>
            <a:off x="685800" y="2194560"/>
            <a:ext cx="539496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6" name="prose"/>
          <p:cNvSpPr/>
          <p:nvPr>
            <p:ph idx="104" type="body" hasCustomPrompt="1"/>
          </p:nvPr>
        </p:nvSpPr>
        <p:spPr>
          <a:xfrm>
            <a:off x="6446520" y="2194560"/>
            <a:ext cx="5059375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Claim, evidence, and implication in full sentences</a:t>
            </a:r>
            <a:endParaRPr lang="en-US" sz="1400" dirty="0"/>
          </a:p>
        </p:txBody>
      </p:sp>
      <p:sp>
        <p:nvSpPr>
          <p:cNvPr id="7" name="source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1047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d_claim.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evidence"/>
          <p:cNvSpPr/>
          <p:nvPr>
            <p:ph idx="104" type="body" hasCustomPrompt="1"/>
          </p:nvPr>
        </p:nvSpPr>
        <p:spPr>
          <a:xfrm>
            <a:off x="685800" y="2194560"/>
            <a:ext cx="539496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7" name="prose"/>
          <p:cNvSpPr/>
          <p:nvPr>
            <p:ph idx="105" type="body" hasCustomPrompt="1"/>
          </p:nvPr>
        </p:nvSpPr>
        <p:spPr>
          <a:xfrm>
            <a:off x="6446520" y="2194560"/>
            <a:ext cx="5059375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Claim, evidence, and implication in full sentences</a:t>
            </a:r>
            <a:endParaRPr lang="en-US" sz="14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1048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d_claim.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evidence"/>
          <p:cNvSpPr/>
          <p:nvPr>
            <p:ph idx="103" type="body" hasCustomPrompt="1"/>
          </p:nvPr>
        </p:nvSpPr>
        <p:spPr>
          <a:xfrm>
            <a:off x="685800" y="2194560"/>
            <a:ext cx="10820095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6" name="prose_1"/>
          <p:cNvSpPr/>
          <p:nvPr>
            <p:ph idx="104" type="body" hasCustomPrompt="1"/>
          </p:nvPr>
        </p:nvSpPr>
        <p:spPr>
          <a:xfrm>
            <a:off x="685800" y="4114800"/>
            <a:ext cx="5181905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Prose, first half</a:t>
            </a:r>
            <a:endParaRPr lang="en-US" sz="1400" dirty="0"/>
          </a:p>
        </p:txBody>
      </p:sp>
      <p:sp>
        <p:nvSpPr>
          <p:cNvPr id="7" name="prose_2"/>
          <p:cNvSpPr/>
          <p:nvPr>
            <p:ph idx="105" type="body" hasCustomPrompt="1"/>
          </p:nvPr>
        </p:nvSpPr>
        <p:spPr>
          <a:xfrm>
            <a:off x="6324905" y="4114800"/>
            <a:ext cx="5181905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Prose, second half</a:t>
            </a:r>
            <a:endParaRPr lang="en-US" sz="14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1049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d_claim.B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headline, one line</a:t>
            </a:r>
            <a:endParaRPr lang="en-US" sz="3000" dirty="0"/>
          </a:p>
        </p:txBody>
      </p:sp>
      <p:sp>
        <p:nvSpPr>
          <p:cNvPr id="5" name="subhead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assertion under the headline, two lines at most</a:t>
            </a:r>
            <a:endParaRPr lang="en-US" sz="1500" dirty="0"/>
          </a:p>
        </p:txBody>
      </p:sp>
      <p:sp>
        <p:nvSpPr>
          <p:cNvPr id="6" name="evidence"/>
          <p:cNvSpPr/>
          <p:nvPr>
            <p:ph idx="104" type="body" hasCustomPrompt="1"/>
          </p:nvPr>
        </p:nvSpPr>
        <p:spPr>
          <a:xfrm>
            <a:off x="685800" y="2194560"/>
            <a:ext cx="10820095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7" name="prose_1"/>
          <p:cNvSpPr/>
          <p:nvPr>
            <p:ph idx="105" type="body" hasCustomPrompt="1"/>
          </p:nvPr>
        </p:nvSpPr>
        <p:spPr>
          <a:xfrm>
            <a:off x="685800" y="4114800"/>
            <a:ext cx="5181905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Prose, first half</a:t>
            </a:r>
            <a:endParaRPr lang="en-US" sz="1400" dirty="0"/>
          </a:p>
        </p:txBody>
      </p:sp>
      <p:sp>
        <p:nvSpPr>
          <p:cNvPr id="8" name="prose_2"/>
          <p:cNvSpPr/>
          <p:nvPr>
            <p:ph idx="106" type="body" hasCustomPrompt="1"/>
          </p:nvPr>
        </p:nvSpPr>
        <p:spPr>
          <a:xfrm>
            <a:off x="6324905" y="4114800"/>
            <a:ext cx="5181905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Prose, second half</a:t>
            </a:r>
            <a:endParaRPr lang="en-US" sz="14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1050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d_text.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2356"/>
            <a:ext cx="100584" cy="10058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4" name="headline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Complete-sentence claim, two lines at most</a:t>
            </a:r>
            <a:endParaRPr lang="en-US" sz="3000" dirty="0"/>
          </a:p>
        </p:txBody>
      </p:sp>
      <p:sp>
        <p:nvSpPr>
          <p:cNvPr id="5" name="prose_1"/>
          <p:cNvSpPr/>
          <p:nvPr>
            <p:ph idx="103" type="body" hasCustomPrompt="1"/>
          </p:nvPr>
        </p:nvSpPr>
        <p:spPr>
          <a:xfrm>
            <a:off x="685800" y="2194560"/>
            <a:ext cx="5181905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Prose, first half</a:t>
            </a:r>
            <a:endParaRPr lang="en-US" sz="1400" dirty="0"/>
          </a:p>
        </p:txBody>
      </p:sp>
      <p:sp>
        <p:nvSpPr>
          <p:cNvPr id="6" name="prose_2"/>
          <p:cNvSpPr/>
          <p:nvPr>
            <p:ph idx="104" type="body" hasCustomPrompt="1"/>
          </p:nvPr>
        </p:nvSpPr>
        <p:spPr>
          <a:xfrm>
            <a:off x="6324905" y="2194560"/>
            <a:ext cx="5181905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Prose, second half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1051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1874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C | Investor presentation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2331720"/>
            <a:ext cx="8961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name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393192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that says what the company is</a:t>
            </a:r>
            <a:endParaRPr lang="en-US" sz="2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name, role | Month 2026</a:t>
            </a:r>
            <a:endParaRPr lang="en-US" sz="14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9966960" y="57150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4173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this section answers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120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stating what this section concludes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685800" y="2788920"/>
            <a:ext cx="33320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685800" y="3291840"/>
            <a:ext cx="333207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key point of the argument in a short phrase</a:t>
            </a:r>
            <a:endParaRPr lang="en-US" sz="2600" dirty="0"/>
          </a:p>
        </p:txBody>
      </p:sp>
      <p:sp>
        <p:nvSpPr>
          <p:cNvPr id="6" name="Text 4"/>
          <p:cNvSpPr/>
          <p:nvPr>
            <p:ph idx="108" type="body" hasCustomPrompt="1"/>
          </p:nvPr>
        </p:nvSpPr>
        <p:spPr>
          <a:xfrm>
            <a:off x="4429354" y="2788920"/>
            <a:ext cx="33320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4"/>
          <p:cNvSpPr/>
          <p:nvPr>
            <p:ph idx="109" type="body" hasCustomPrompt="1"/>
          </p:nvPr>
        </p:nvSpPr>
        <p:spPr>
          <a:xfrm>
            <a:off x="4429354" y="3291840"/>
            <a:ext cx="333207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key point of the argument in a short phrase</a:t>
            </a:r>
            <a:endParaRPr lang="en-US" sz="2600" dirty="0"/>
          </a:p>
        </p:txBody>
      </p:sp>
      <p:sp>
        <p:nvSpPr>
          <p:cNvPr id="8" name="Text 4"/>
          <p:cNvSpPr/>
          <p:nvPr>
            <p:ph idx="110" type="body" hasCustomPrompt="1"/>
          </p:nvPr>
        </p:nvSpPr>
        <p:spPr>
          <a:xfrm>
            <a:off x="8173822" y="2788920"/>
            <a:ext cx="33320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9" name="Text 4"/>
          <p:cNvSpPr/>
          <p:nvPr>
            <p:ph idx="111" type="body" hasCustomPrompt="1"/>
          </p:nvPr>
        </p:nvSpPr>
        <p:spPr>
          <a:xfrm>
            <a:off x="8173822" y="3291840"/>
            <a:ext cx="333207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key point of the argument in a short phrase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05840" y="25146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min</a:t>
            </a:r>
            <a:endParaRPr lang="en-US" sz="6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1005840" y="39319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 and for whom</a:t>
            </a:r>
            <a:endParaRPr lang="en-US" sz="16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5074920" y="2194560"/>
            <a:ext cx="643097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supporting point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85800" y="21488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96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685800" y="3931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20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6446520" y="2377440"/>
            <a:ext cx="505937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2000" dirty="0"/>
          </a:p>
        </p:txBody>
      </p:sp>
      <p:sp>
        <p:nvSpPr>
          <p:cNvPr id="7" name="Text 2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685800" y="21488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96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685800" y="3931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2000" dirty="0"/>
          </a:p>
        </p:txBody>
      </p:sp>
      <p:sp>
        <p:nvSpPr>
          <p:cNvPr id="7" name="Text 2"/>
          <p:cNvSpPr/>
          <p:nvPr>
            <p:ph idx="107" type="body" hasCustomPrompt="1"/>
          </p:nvPr>
        </p:nvSpPr>
        <p:spPr>
          <a:xfrm>
            <a:off x="6446520" y="2377440"/>
            <a:ext cx="505937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2000" dirty="0"/>
          </a:p>
        </p:txBody>
      </p:sp>
      <p:sp>
        <p:nvSpPr>
          <p:cNvPr id="8" name="Text 2"/>
          <p:cNvSpPr/>
          <p:nvPr>
            <p:ph idx="108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057400"/>
            <a:ext cx="108200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11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41605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20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1981505" y="4937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supporting point on one line</a:t>
            </a:r>
            <a:endParaRPr lang="en-US" sz="18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057400"/>
            <a:ext cx="108200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110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41605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20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1981505" y="4937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supporting point on one line</a:t>
            </a:r>
            <a:endParaRPr lang="en-US" sz="1800" dirty="0"/>
          </a:p>
        </p:txBody>
      </p:sp>
      <p:sp>
        <p:nvSpPr>
          <p:cNvPr id="8" name="Text 1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85800" y="237744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2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086600" y="2514600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88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7086600" y="420624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1800" dirty="0"/>
          </a:p>
        </p:txBody>
      </p:sp>
      <p:sp>
        <p:nvSpPr>
          <p:cNvPr id="7" name="Text 2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685800" y="237744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20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7086600" y="2514600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8800" dirty="0"/>
          </a:p>
        </p:txBody>
      </p:sp>
      <p:sp>
        <p:nvSpPr>
          <p:cNvPr id="7" name="Text 2"/>
          <p:cNvSpPr/>
          <p:nvPr>
            <p:ph idx="107" type="body" hasCustomPrompt="1"/>
          </p:nvPr>
        </p:nvSpPr>
        <p:spPr>
          <a:xfrm>
            <a:off x="7086600" y="420624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1800" dirty="0"/>
          </a:p>
        </p:txBody>
      </p:sp>
      <p:sp>
        <p:nvSpPr>
          <p:cNvPr id="8" name="Text 2"/>
          <p:cNvSpPr/>
          <p:nvPr>
            <p:ph idx="108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measure, unit, period</a:t>
            </a:r>
            <a:endParaRPr lang="en-US" sz="13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region: the renderer draws this from the spec]</a:t>
            </a:r>
            <a:endParaRPr lang="en-US" sz="1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 in the chart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measure, unit, period</a:t>
            </a:r>
            <a:endParaRPr lang="en-US" sz="13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region: the renderer draws this from the spec]</a:t>
            </a:r>
            <a:endParaRPr lang="en-US" sz="12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 in the chart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8" name="Text 1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9659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saying what to notice in the chart</a:t>
            </a:r>
            <a:endParaRPr lang="en-US" sz="2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560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measure, unit, period</a:t>
            </a:r>
            <a:endParaRPr lang="en-US" sz="13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2926080"/>
            <a:ext cx="1082009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region: the renderer draws this from the spec]</a:t>
            </a:r>
            <a:endParaRPr lang="en-US" sz="12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19659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saying what to notice in the chart</a:t>
            </a:r>
            <a:endParaRPr lang="en-US" sz="20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2560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measure, unit, period</a:t>
            </a:r>
            <a:endParaRPr lang="en-US" sz="13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2926080"/>
            <a:ext cx="1082009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region: the renderer draws this from the spec]</a:t>
            </a:r>
            <a:endParaRPr lang="en-US" sz="1200" dirty="0"/>
          </a:p>
        </p:txBody>
      </p:sp>
      <p:sp>
        <p:nvSpPr>
          <p:cNvPr id="8" name="Text 1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685800" y="2148840"/>
            <a:ext cx="50904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6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685800" y="2697480"/>
            <a:ext cx="509046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 is done now, in one or two short phrases</a:t>
            </a:r>
            <a:endParaRPr lang="en-US" sz="24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6635801" y="2148840"/>
            <a:ext cx="48710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new approach</a:t>
            </a:r>
            <a:endParaRPr lang="en-US" sz="16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416345" y="2697480"/>
            <a:ext cx="509046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same work is done with the proposal</a:t>
            </a:r>
            <a:endParaRPr lang="en-US" sz="24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685800" y="2148840"/>
            <a:ext cx="50904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6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685800" y="2697480"/>
            <a:ext cx="509046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 is done now, in one or two short phrases</a:t>
            </a:r>
            <a:endParaRPr lang="en-US" sz="24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635801" y="2148840"/>
            <a:ext cx="48710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new approach</a:t>
            </a:r>
            <a:endParaRPr lang="en-US" sz="16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6416345" y="2697480"/>
            <a:ext cx="509046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same work is done with the proposal</a:t>
            </a:r>
            <a:endParaRPr lang="en-US" sz="2400" dirty="0"/>
          </a:p>
        </p:txBody>
      </p:sp>
      <p:sp>
        <p:nvSpPr>
          <p:cNvPr id="9" name="Text 3"/>
          <p:cNvSpPr/>
          <p:nvPr>
            <p:ph idx="110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9601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6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3520440" y="2194560"/>
            <a:ext cx="77111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 is done now</a:t>
            </a:r>
            <a:endParaRPr lang="en-US" sz="24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96012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new approach</a:t>
            </a:r>
            <a:endParaRPr lang="en-US" sz="1600" dirty="0"/>
          </a:p>
        </p:txBody>
      </p:sp>
      <p:sp>
        <p:nvSpPr>
          <p:cNvPr id="7" name="Text 2"/>
          <p:cNvSpPr/>
          <p:nvPr>
            <p:ph idx="107" type="body" hasCustomPrompt="1"/>
          </p:nvPr>
        </p:nvSpPr>
        <p:spPr>
          <a:xfrm>
            <a:off x="3520440" y="4206240"/>
            <a:ext cx="77111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same work is done with the proposal</a:t>
            </a:r>
            <a:endParaRPr lang="en-US" sz="2400" dirty="0"/>
          </a:p>
        </p:txBody>
      </p:sp>
      <p:sp>
        <p:nvSpPr>
          <p:cNvPr id="8" name="Text 2"/>
          <p:cNvSpPr/>
          <p:nvPr>
            <p:ph idx="108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601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6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3520440" y="2194560"/>
            <a:ext cx="77111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 is done now</a:t>
            </a:r>
            <a:endParaRPr lang="en-US" sz="2400" dirty="0"/>
          </a:p>
        </p:txBody>
      </p:sp>
      <p:sp>
        <p:nvSpPr>
          <p:cNvPr id="7" name="Text 2"/>
          <p:cNvSpPr/>
          <p:nvPr>
            <p:ph idx="107" type="body" hasCustomPrompt="1"/>
          </p:nvPr>
        </p:nvSpPr>
        <p:spPr>
          <a:xfrm>
            <a:off x="96012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new approach</a:t>
            </a:r>
            <a:endParaRPr lang="en-US" sz="1600" dirty="0"/>
          </a:p>
        </p:txBody>
      </p:sp>
      <p:sp>
        <p:nvSpPr>
          <p:cNvPr id="8" name="Text 2"/>
          <p:cNvSpPr/>
          <p:nvPr>
            <p:ph idx="108" type="body" hasCustomPrompt="1"/>
          </p:nvPr>
        </p:nvSpPr>
        <p:spPr>
          <a:xfrm>
            <a:off x="3520440" y="4206240"/>
            <a:ext cx="77111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same work is done with the proposal</a:t>
            </a:r>
            <a:endParaRPr lang="en-US" sz="2400" dirty="0"/>
          </a:p>
        </p:txBody>
      </p:sp>
      <p:sp>
        <p:nvSpPr>
          <p:cNvPr id="9" name="Text 2"/>
          <p:cNvSpPr/>
          <p:nvPr>
            <p:ph idx="109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148840"/>
            <a:ext cx="1082009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 region: the renderer draws this from the spec]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53492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explaining what the diagram shows</a:t>
            </a:r>
            <a:endParaRPr lang="en-US" sz="1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148840"/>
            <a:ext cx="1082009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 region: the renderer draws this from the spec]</a:t>
            </a:r>
            <a:endParaRPr lang="en-US" sz="1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53492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explaining what the diagram shows</a:t>
            </a:r>
            <a:endParaRPr lang="en-US" sz="18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057400"/>
            <a:ext cx="6858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 region: the renderer draws this from the spec]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8001000" y="2286000"/>
            <a:ext cx="35048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1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057400"/>
            <a:ext cx="6858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 region: the renderer draws this from the spec]</a:t>
            </a:r>
            <a:endParaRPr lang="en-US" sz="1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8001000" y="2286000"/>
            <a:ext cx="35048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18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measure, unit, period</a:t>
            </a:r>
            <a:endParaRPr lang="en-US" sz="13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[line_chart region: the renderer draws this from the spec]</a:t>
            </a:r>
            <a:endParaRPr lang="en-US" sz="1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over the period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measure, unit, period</a:t>
            </a:r>
            <a:endParaRPr lang="en-US" sz="13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[line_chart region: the renderer draws this from the spec]</a:t>
            </a:r>
            <a:endParaRPr lang="en-US" sz="12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over the period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8" name="Text 1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9659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saying what changed over the period</a:t>
            </a:r>
            <a:endParaRPr lang="en-US" sz="2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560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measure, unit, period</a:t>
            </a:r>
            <a:endParaRPr lang="en-US" sz="13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2926080"/>
            <a:ext cx="1082009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[line_chart region: the renderer draws this from the spec]</a:t>
            </a:r>
            <a:endParaRPr lang="en-US" sz="12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19659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saying what changed over the period</a:t>
            </a:r>
            <a:endParaRPr lang="en-US" sz="20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2560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measure, unit, period</a:t>
            </a:r>
            <a:endParaRPr lang="en-US" sz="13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2926080"/>
            <a:ext cx="1082009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[line_chart region: the renderer draws this from the spec]</a:t>
            </a:r>
            <a:endParaRPr lang="en-US" sz="1200" dirty="0"/>
          </a:p>
        </p:txBody>
      </p:sp>
      <p:sp>
        <p:nvSpPr>
          <p:cNvPr id="8" name="Text 1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x against y, with units</a:t>
            </a:r>
            <a:endParaRPr lang="en-US" sz="13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[scatter region: the renderer draws this from the spec]</a:t>
            </a:r>
            <a:endParaRPr lang="en-US" sz="1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relationship shows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stops holding</a:t>
            </a:r>
            <a:endParaRPr lang="en-US" sz="18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0116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chart title: x against y, with units</a:t>
            </a:r>
            <a:endParaRPr lang="en-US" sz="13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2377440"/>
            <a:ext cx="7406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[scatter region: the renderer draws this from the spec]</a:t>
            </a:r>
            <a:endParaRPr lang="en-US" sz="12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8503920" y="2377440"/>
            <a:ext cx="30019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relationship shows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stops holding</a:t>
            </a:r>
            <a:endParaRPr lang="en-US" sz="1800" dirty="0"/>
          </a:p>
        </p:txBody>
      </p:sp>
      <p:sp>
        <p:nvSpPr>
          <p:cNvPr id="8" name="Text 1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926080"/>
            <a:ext cx="330189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reason that supports the headline</a:t>
            </a:r>
            <a:endParaRPr lang="en-US" sz="20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4444898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4444898" y="2926080"/>
            <a:ext cx="330189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reason that supports the headline</a:t>
            </a:r>
            <a:endParaRPr lang="en-US" sz="2000" dirty="0"/>
          </a:p>
        </p:txBody>
      </p:sp>
      <p:sp>
        <p:nvSpPr>
          <p:cNvPr id="8" name="Text 1"/>
          <p:cNvSpPr/>
          <p:nvPr>
            <p:ph idx="107" type="body" hasCustomPrompt="1"/>
          </p:nvPr>
        </p:nvSpPr>
        <p:spPr>
          <a:xfrm>
            <a:off x="8203997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1"/>
          <p:cNvSpPr/>
          <p:nvPr>
            <p:ph idx="108" type="body" hasCustomPrompt="1"/>
          </p:nvPr>
        </p:nvSpPr>
        <p:spPr>
          <a:xfrm>
            <a:off x="8203997" y="2926080"/>
            <a:ext cx="330189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reason that supports the headline</a:t>
            </a:r>
            <a:endParaRPr lang="en-US" sz="2000" dirty="0"/>
          </a:p>
        </p:txBody>
      </p:sp>
      <p:sp>
        <p:nvSpPr>
          <p:cNvPr id="10" name="Text 1"/>
          <p:cNvSpPr/>
          <p:nvPr>
            <p:ph idx="109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2926080"/>
            <a:ext cx="330189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reason that supports the headline</a:t>
            </a:r>
            <a:endParaRPr lang="en-US" sz="20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4444898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1"/>
          <p:cNvSpPr/>
          <p:nvPr>
            <p:ph idx="107" type="body" hasCustomPrompt="1"/>
          </p:nvPr>
        </p:nvSpPr>
        <p:spPr>
          <a:xfrm>
            <a:off x="4444898" y="2926080"/>
            <a:ext cx="330189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reason that supports the headline</a:t>
            </a:r>
            <a:endParaRPr lang="en-US" sz="2000" dirty="0"/>
          </a:p>
        </p:txBody>
      </p:sp>
      <p:sp>
        <p:nvSpPr>
          <p:cNvPr id="9" name="Text 1"/>
          <p:cNvSpPr/>
          <p:nvPr>
            <p:ph idx="108" type="body" hasCustomPrompt="1"/>
          </p:nvPr>
        </p:nvSpPr>
        <p:spPr>
          <a:xfrm>
            <a:off x="8203997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1"/>
          <p:cNvSpPr/>
          <p:nvPr>
            <p:ph idx="109" type="body" hasCustomPrompt="1"/>
          </p:nvPr>
        </p:nvSpPr>
        <p:spPr>
          <a:xfrm>
            <a:off x="8203997" y="2926080"/>
            <a:ext cx="330189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reason that supports the headline</a:t>
            </a:r>
            <a:endParaRPr lang="en-US" sz="2000" dirty="0"/>
          </a:p>
        </p:txBody>
      </p:sp>
      <p:sp>
        <p:nvSpPr>
          <p:cNvPr id="11" name="Text 1"/>
          <p:cNvSpPr/>
          <p:nvPr>
            <p:ph idx="110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286000"/>
            <a:ext cx="8686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supporting point</a:t>
            </a:r>
            <a:endParaRPr lang="en-US" sz="2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286000"/>
            <a:ext cx="8686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supporting point</a:t>
            </a:r>
            <a:endParaRPr lang="en-US" sz="2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148840"/>
            <a:ext cx="1082009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[evidence_table region: the renderer draws this from the spec]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5440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which value matters and why</a:t>
            </a:r>
            <a:endParaRPr lang="en-US" sz="1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148840"/>
            <a:ext cx="1082009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[evidence_table region: the renderer draws this from the spec]</a:t>
            </a:r>
            <a:endParaRPr lang="en-US" sz="1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5440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which value matters and why</a:t>
            </a:r>
            <a:endParaRPr lang="en-US" sz="18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1005840" y="23774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3.1x</a:t>
            </a:r>
            <a:endParaRPr lang="en-US" sz="80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1005840" y="39319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18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6446520" y="2331720"/>
            <a:ext cx="505937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observation, quoted from the source</a:t>
            </a:r>
            <a:endParaRPr lang="en-US" sz="22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446520" y="512064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the quote</a:t>
            </a:r>
            <a:endParaRPr lang="en-US" sz="13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1005840" y="23774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3.1x</a:t>
            </a:r>
            <a:endParaRPr lang="en-US" sz="80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1005840" y="39319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</a:t>
            </a:r>
            <a:endParaRPr lang="en-US" sz="18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446520" y="2331720"/>
            <a:ext cx="505937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observation, quoted from the source</a:t>
            </a:r>
            <a:endParaRPr lang="en-US" sz="22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6446520" y="512064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the quote</a:t>
            </a:r>
            <a:endParaRPr lang="en-US" sz="1300" dirty="0"/>
          </a:p>
        </p:txBody>
      </p:sp>
      <p:sp>
        <p:nvSpPr>
          <p:cNvPr id="9" name="Text 3"/>
          <p:cNvSpPr/>
          <p:nvPr>
            <p:ph idx="110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103120"/>
            <a:ext cx="1082009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[mechanism region: the renderer draws this from the spec]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54864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the diagram shows</a:t>
            </a:r>
            <a:endParaRPr lang="en-US" sz="17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103120"/>
            <a:ext cx="1082009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[mechanism region: the renderer draws this from the spec]</a:t>
            </a:r>
            <a:endParaRPr lang="en-US" sz="1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54864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the diagram shows</a:t>
            </a:r>
            <a:endParaRPr lang="en-US" sz="17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194560"/>
            <a:ext cx="9692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formal positioning statement, set exactly as approved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103120"/>
            <a:ext cx="108200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[objections region: the renderer draws this from the spec]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194560"/>
            <a:ext cx="108200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[stages region: the renderer draws this from the spec]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54864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the stages show</a:t>
            </a:r>
            <a:endParaRPr lang="en-US" sz="18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194560"/>
            <a:ext cx="108200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[stages region: the renderer draws this from the spec]</a:t>
            </a:r>
            <a:endParaRPr lang="en-US" sz="1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54864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the stages show</a:t>
            </a:r>
            <a:endParaRPr lang="en-US" sz="18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1417320"/>
            <a:ext cx="987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deck's thesis, restated as one full sentence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85800" y="39776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ask, stated plainly</a:t>
            </a:r>
            <a:endParaRPr lang="en-US" sz="2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name@company.com</a:t>
            </a:r>
            <a:endParaRPr lang="en-US" sz="1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9966960" y="57150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A1 | Supports slide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title of the supporting material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737360"/>
            <a:ext cx="108200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[table region: the renderer draws this from the spec]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1737360"/>
            <a:ext cx="108200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wording of a supporting item kept out of the live deck.</a:t>
            </a:r>
            <a:endParaRPr lang="en-US" sz="15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05840" y="2560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min</a:t>
            </a:r>
            <a:endParaRPr lang="en-US" sz="54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1005840" y="3840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figure measures and for whom</a:t>
            </a:r>
            <a:endParaRPr lang="en-US" sz="14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5074920" y="2194560"/>
            <a:ext cx="643097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Full-sentence summary prose a reader can follow without a presenter.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194560"/>
            <a:ext cx="53949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[evidence region: the renderer draws this from the spec]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446520" y="2194560"/>
            <a:ext cx="505937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Full-sentence prose that a reader can follow without a presenter.</a:t>
            </a:r>
            <a:endParaRPr lang="en-US" sz="14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194560"/>
            <a:ext cx="53949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[evidence region: the renderer draws this from the spec]</a:t>
            </a:r>
            <a:endParaRPr lang="en-US" sz="1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446520" y="2194560"/>
            <a:ext cx="505937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Full-sentence prose that a reader can follow without a presenter.</a:t>
            </a:r>
            <a:endParaRPr lang="en-US" sz="14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194560"/>
            <a:ext cx="108200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[evidence region: the renderer draws this from the spec]</a:t>
            </a:r>
            <a:endParaRPr lang="en-US" sz="1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4114800"/>
            <a:ext cx="518190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Full-sentence prose, first column.</a:t>
            </a:r>
            <a:endParaRPr lang="en-US" sz="14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324905" y="4114800"/>
            <a:ext cx="518190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Full-sentence prose, second column.</a:t>
            </a:r>
            <a:endParaRPr lang="en-US" sz="14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sells what this means for the audience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1389888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subhead states exactly what the evidence on this slide shows, in a full sentence of up to two lines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5800" y="2194560"/>
            <a:ext cx="108200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[evidence region: the renderer draws this from the spec]</a:t>
            </a:r>
            <a:endParaRPr lang="en-US" sz="12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685800" y="4114800"/>
            <a:ext cx="518190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Full-sentence prose, first column.</a:t>
            </a:r>
            <a:endParaRPr lang="en-US" sz="14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6324905" y="4114800"/>
            <a:ext cx="518190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Full-sentence prose, second column.</a:t>
            </a:r>
            <a:endParaRPr lang="en-US" sz="1400" dirty="0"/>
          </a:p>
        </p:txBody>
      </p:sp>
      <p:sp>
        <p:nvSpPr>
          <p:cNvPr id="8" name="Text 1"/>
          <p:cNvSpPr/>
          <p:nvPr>
            <p:ph idx="107" type="body" hasCustomPrompt="1"/>
          </p:nvPr>
        </p:nvSpPr>
        <p:spPr>
          <a:xfrm>
            <a:off x="68580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what was measured, by whom, and when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0525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41248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states this slide's conclusion as a full sentence that can run to two lines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2194560"/>
            <a:ext cx="518190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Full-sentence prose, first column.</a:t>
            </a:r>
            <a:endParaRPr lang="en-US" sz="1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324905" y="2194560"/>
            <a:ext cx="518190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Full-sentence prose, second column.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4A556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template v0.1</dc:title>
  <dc:subject>PptxGenJS Presentation</dc:subject>
  <dc:creator>Deck tool</dc:creator>
  <cp:lastModifiedBy>Deck tool</cp:lastModifiedBy>
  <cp:revision>1</cp:revision>
  <dcterms:created xsi:type="dcterms:W3CDTF">2026-10-03T17:51:14Z</dcterms:created>
  <dcterms:modified xsi:type="dcterms:W3CDTF">2026-10-03T17:51:14Z</dcterms:modified>
</cp:coreProperties>
</file>